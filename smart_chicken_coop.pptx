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3D1C"/>
        </a:solidFill>
      </p:bgPr>
    </p:bg>
    <p:spTree>
      <p:nvGrpSpPr>
        <p:cNvPr id="1" name=""/>
        <p:cNvGrpSpPr/>
        <p:nvPr/>
      </p:nvGrpSpPr>
      <p:grpSpPr>
        <a:xfrm>
          <a:off x="0" y="0"/>
          <a:ext cx="0" cy="0"/>
          <a:chOff x="0" y="0"/>
          <a:chExt cx="0" cy="0"/>
        </a:xfrm>
      </p:grpSpPr>
      <p:sp>
        <p:nvSpPr>
          <p:cNvPr id="2" name="Shape 0"/>
          <p:cNvSpPr/>
          <p:nvPr/>
        </p:nvSpPr>
        <p:spPr>
          <a:xfrm>
            <a:off x="6400800" y="-1645920"/>
            <a:ext cx="4114800" cy="4114800"/>
          </a:xfrm>
          <a:prstGeom prst="ellipse">
            <a:avLst/>
          </a:prstGeom>
          <a:solidFill>
            <a:srgbClr val="2E5B2E"/>
          </a:solidFill>
          <a:ln w="12700">
            <a:solidFill>
              <a:srgbClr val="2E5B2E"/>
            </a:solidFill>
            <a:prstDash val="solid"/>
          </a:ln>
        </p:spPr>
      </p:sp>
      <p:sp>
        <p:nvSpPr>
          <p:cNvPr id="3" name="Shape 1"/>
          <p:cNvSpPr/>
          <p:nvPr/>
        </p:nvSpPr>
        <p:spPr>
          <a:xfrm>
            <a:off x="-1645920" y="4754880"/>
            <a:ext cx="3474720" cy="3474720"/>
          </a:xfrm>
          <a:prstGeom prst="ellipse">
            <a:avLst/>
          </a:prstGeom>
          <a:solidFill>
            <a:srgbClr val="2E5B2E"/>
          </a:solidFill>
          <a:ln w="12700">
            <a:solidFill>
              <a:srgbClr val="2E5B2E"/>
            </a:solidFill>
            <a:prstDash val="solid"/>
          </a:ln>
        </p:spPr>
      </p:sp>
      <p:sp>
        <p:nvSpPr>
          <p:cNvPr id="4" name="Shape 2"/>
          <p:cNvSpPr/>
          <p:nvPr/>
        </p:nvSpPr>
        <p:spPr>
          <a:xfrm>
            <a:off x="548640" y="1737360"/>
            <a:ext cx="91440" cy="1371600"/>
          </a:xfrm>
          <a:prstGeom prst="rect">
            <a:avLst/>
          </a:prstGeom>
          <a:solidFill>
            <a:srgbClr val="4CAF50"/>
          </a:solidFill>
          <a:ln w="12700">
            <a:solidFill>
              <a:srgbClr val="4CAF50"/>
            </a:solidFill>
            <a:prstDash val="solid"/>
          </a:ln>
        </p:spPr>
      </p:sp>
      <p:sp>
        <p:nvSpPr>
          <p:cNvPr id="5" name="Text 3"/>
          <p:cNvSpPr/>
          <p:nvPr/>
        </p:nvSpPr>
        <p:spPr>
          <a:xfrm>
            <a:off x="777240" y="1554480"/>
            <a:ext cx="7772400" cy="1645920"/>
          </a:xfrm>
          <a:prstGeom prst="rect">
            <a:avLst/>
          </a:prstGeom>
          <a:noFill/>
          <a:ln/>
        </p:spPr>
        <p:txBody>
          <a:bodyPr wrap="square" lIns="0" tIns="0" rIns="0" bIns="0" rtlCol="0" anchor="ctr"/>
          <a:lstStyle/>
          <a:p>
            <a:pPr algn="l" indent="0" marL="0">
              <a:buNone/>
            </a:pPr>
            <a:r>
              <a:rPr lang="en-US" sz="5000" b="1" dirty="0">
                <a:solidFill>
                  <a:srgbClr val="FFFFFF"/>
                </a:solidFill>
                <a:latin typeface="Georgia" pitchFamily="34" charset="0"/>
                <a:ea typeface="Georgia" pitchFamily="34" charset="-122"/>
                <a:cs typeface="Georgia" pitchFamily="34" charset="-120"/>
              </a:rPr>
              <a:t>Smart Chicken Coop</a:t>
            </a:r>
            <a:endParaRPr lang="en-US" sz="5000" dirty="0"/>
          </a:p>
        </p:txBody>
      </p:sp>
      <p:sp>
        <p:nvSpPr>
          <p:cNvPr id="6" name="Text 4"/>
          <p:cNvSpPr/>
          <p:nvPr/>
        </p:nvSpPr>
        <p:spPr>
          <a:xfrm>
            <a:off x="777240" y="3246120"/>
            <a:ext cx="7772400" cy="548640"/>
          </a:xfrm>
          <a:prstGeom prst="rect">
            <a:avLst/>
          </a:prstGeom>
          <a:noFill/>
          <a:ln/>
        </p:spPr>
        <p:txBody>
          <a:bodyPr wrap="square" lIns="0" tIns="0" rIns="0" bIns="0" rtlCol="0" anchor="ctr"/>
          <a:lstStyle/>
          <a:p>
            <a:pPr algn="l" indent="0" marL="0">
              <a:buNone/>
            </a:pPr>
            <a:r>
              <a:rPr lang="en-US" sz="2000" dirty="0">
                <a:solidFill>
                  <a:srgbClr val="C8E6C9"/>
                </a:solidFill>
                <a:latin typeface="Calibri" pitchFamily="34" charset="0"/>
                <a:ea typeface="Calibri" pitchFamily="34" charset="-122"/>
                <a:cs typeface="Calibri" pitchFamily="34" charset="-120"/>
              </a:rPr>
              <a:t>An Automated Monitoring &amp; Control System</a:t>
            </a:r>
            <a:endParaRPr lang="en-US" sz="2000" dirty="0"/>
          </a:p>
        </p:txBody>
      </p:sp>
      <p:sp>
        <p:nvSpPr>
          <p:cNvPr id="7" name="Text 5"/>
          <p:cNvSpPr/>
          <p:nvPr/>
        </p:nvSpPr>
        <p:spPr>
          <a:xfrm>
            <a:off x="777240" y="6217920"/>
            <a:ext cx="7772400" cy="365760"/>
          </a:xfrm>
          <a:prstGeom prst="rect">
            <a:avLst/>
          </a:prstGeom>
          <a:noFill/>
          <a:ln/>
        </p:spPr>
        <p:txBody>
          <a:bodyPr wrap="square" lIns="0" tIns="0" rIns="0" bIns="0" rtlCol="0" anchor="ctr"/>
          <a:lstStyle/>
          <a:p>
            <a:pPr algn="l" indent="0" marL="0">
              <a:buNone/>
            </a:pPr>
            <a:r>
              <a:rPr lang="en-US" sz="1200" dirty="0">
                <a:solidFill>
                  <a:srgbClr val="81C784"/>
                </a:solidFill>
                <a:latin typeface="Calibri" pitchFamily="34" charset="0"/>
                <a:ea typeface="Calibri" pitchFamily="34" charset="-122"/>
                <a:cs typeface="Calibri" pitchFamily="34" charset="-120"/>
              </a:rPr>
              <a:t>Raspberry Pi 5   ·   Python   ·   PCA9685 Servo Driver   ·   7 Automated Systems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B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3D1C"/>
          </a:solidFill>
          <a:ln w="12700">
            <a:solidFill>
              <a:srgbClr val="1C3D1C"/>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The Story</a:t>
            </a:r>
            <a:endParaRPr lang="en-US" sz="2600" dirty="0"/>
          </a:p>
        </p:txBody>
      </p:sp>
      <p:sp>
        <p:nvSpPr>
          <p:cNvPr id="4" name="Shape 2"/>
          <p:cNvSpPr/>
          <p:nvPr/>
        </p:nvSpPr>
        <p:spPr>
          <a:xfrm>
            <a:off x="320040" y="1097280"/>
            <a:ext cx="4114800" cy="5486400"/>
          </a:xfrm>
          <a:prstGeom prst="rect">
            <a:avLst/>
          </a:prstGeom>
          <a:solidFill>
            <a:srgbClr val="FFFFFF"/>
          </a:solidFill>
          <a:ln w="10160">
            <a:solidFill>
              <a:srgbClr val="E0E8E0"/>
            </a:solidFill>
            <a:prstDash val="solid"/>
          </a:ln>
          <a:effectLst>
            <a:outerShdw sx="100000" sy="100000" kx="0" ky="0" algn="bl" rotWithShape="0" blurRad="63500" dist="25400" dir="8100000">
              <a:srgbClr val="000000">
                <a:alpha val="10000"/>
              </a:srgbClr>
            </a:outerShdw>
          </a:effectLst>
        </p:spPr>
      </p:sp>
      <p:sp>
        <p:nvSpPr>
          <p:cNvPr id="5" name="Text 3"/>
          <p:cNvSpPr/>
          <p:nvPr/>
        </p:nvSpPr>
        <p:spPr>
          <a:xfrm>
            <a:off x="502920" y="1261872"/>
            <a:ext cx="3749040" cy="411480"/>
          </a:xfrm>
          <a:prstGeom prst="rect">
            <a:avLst/>
          </a:prstGeom>
          <a:noFill/>
          <a:ln/>
        </p:spPr>
        <p:txBody>
          <a:bodyPr wrap="square" lIns="0" tIns="0" rIns="0" bIns="0" rtlCol="0" anchor="ctr"/>
          <a:lstStyle/>
          <a:p>
            <a:pPr algn="l" indent="0" marL="0">
              <a:buNone/>
            </a:pPr>
            <a:r>
              <a:rPr lang="en-US" sz="1500" b="1" dirty="0">
                <a:solidFill>
                  <a:srgbClr val="1C3D1C"/>
                </a:solidFill>
                <a:latin typeface="Georgia" pitchFamily="34" charset="0"/>
                <a:ea typeface="Georgia" pitchFamily="34" charset="-122"/>
                <a:cs typeface="Georgia" pitchFamily="34" charset="-120"/>
              </a:rPr>
              <a:t>Why We Built This</a:t>
            </a:r>
            <a:endParaRPr lang="en-US" sz="1500" dirty="0"/>
          </a:p>
        </p:txBody>
      </p:sp>
      <p:sp>
        <p:nvSpPr>
          <p:cNvPr id="6" name="Shape 4"/>
          <p:cNvSpPr/>
          <p:nvPr/>
        </p:nvSpPr>
        <p:spPr>
          <a:xfrm>
            <a:off x="502920" y="1664208"/>
            <a:ext cx="3474720" cy="36576"/>
          </a:xfrm>
          <a:prstGeom prst="rect">
            <a:avLst/>
          </a:prstGeom>
          <a:solidFill>
            <a:srgbClr val="C8E6C9"/>
          </a:solidFill>
          <a:ln w="12700">
            <a:solidFill>
              <a:srgbClr val="C8E6C9"/>
            </a:solidFill>
            <a:prstDash val="solid"/>
          </a:ln>
        </p:spPr>
      </p:sp>
      <p:sp>
        <p:nvSpPr>
          <p:cNvPr id="7" name="Text 5"/>
          <p:cNvSpPr/>
          <p:nvPr/>
        </p:nvSpPr>
        <p:spPr>
          <a:xfrm>
            <a:off x="502920" y="1783080"/>
            <a:ext cx="3749040" cy="4526280"/>
          </a:xfrm>
          <a:prstGeom prst="rect">
            <a:avLst/>
          </a:prstGeom>
          <a:noFill/>
          <a:ln/>
        </p:spPr>
        <p:txBody>
          <a:bodyPr wrap="square" lIns="0" tIns="0" rIns="0" bIns="0" rtlCol="0" anchor="t"/>
          <a:lstStyle/>
          <a:p>
            <a:pPr algn="l" indent="0" marL="0">
              <a:buNone/>
            </a:pPr>
            <a:r>
              <a:rPr lang="en-US" sz="1350" dirty="0">
                <a:solidFill>
                  <a:srgbClr val="1A1A1A"/>
                </a:solidFill>
                <a:latin typeface="Calibri" pitchFamily="34" charset="0"/>
                <a:ea typeface="Calibri" pitchFamily="34" charset="-122"/>
                <a:cs typeface="Calibri" pitchFamily="34" charset="-120"/>
              </a:rPr>
              <a:t>We have a chicken coop at home with six hens. Every single day, someone had to walk out and physically check on them.</a:t>
            </a:r>
            <a:endParaRPr lang="en-US" sz="1350" dirty="0"/>
          </a:p>
          <a:p>
            <a:pPr algn="l" indent="0" marL="0">
              <a:buNone/>
            </a:pPr>
            <a:r>
              <a:rPr lang="en-US" sz="1350" dirty="0">
                <a:solidFill>
                  <a:srgbClr val="1A1A1A"/>
                </a:solidFill>
                <a:latin typeface="Calibri" pitchFamily="34" charset="0"/>
                <a:ea typeface="Calibri" pitchFamily="34" charset="-122"/>
                <a:cs typeface="Calibri" pitchFamily="34" charset="-120"/>
              </a:rPr>
              <a:t> </a:t>
            </a:r>
            <a:endParaRPr lang="en-US" sz="1350" dirty="0"/>
          </a:p>
          <a:p>
            <a:pPr algn="l" indent="0" marL="0">
              <a:buNone/>
            </a:pPr>
            <a:r>
              <a:rPr lang="en-US" sz="1350" dirty="0">
                <a:solidFill>
                  <a:srgbClr val="1A1A1A"/>
                </a:solidFill>
                <a:latin typeface="Calibri" pitchFamily="34" charset="0"/>
                <a:ea typeface="Calibri" pitchFamily="34" charset="-122"/>
                <a:cs typeface="Calibri" pitchFamily="34" charset="-120"/>
              </a:rPr>
              <a:t>Was the water topped up? Had the door closed at dusk? Was it getting too hot inside? Had they run out of food?</a:t>
            </a:r>
            <a:endParaRPr lang="en-US" sz="1350" dirty="0"/>
          </a:p>
          <a:p>
            <a:pPr algn="l" indent="0" marL="0">
              <a:buNone/>
            </a:pPr>
            <a:r>
              <a:rPr lang="en-US" sz="1350" dirty="0">
                <a:solidFill>
                  <a:srgbClr val="1A1A1A"/>
                </a:solidFill>
                <a:latin typeface="Calibri" pitchFamily="34" charset="0"/>
                <a:ea typeface="Calibri" pitchFamily="34" charset="-122"/>
                <a:cs typeface="Calibri" pitchFamily="34" charset="-120"/>
              </a:rPr>
              <a:t> </a:t>
            </a:r>
            <a:endParaRPr lang="en-US" sz="1350" dirty="0"/>
          </a:p>
          <a:p>
            <a:pPr algn="l" indent="0" marL="0">
              <a:buNone/>
            </a:pPr>
            <a:r>
              <a:rPr lang="en-US" sz="1350" dirty="0">
                <a:solidFill>
                  <a:srgbClr val="1A1A1A"/>
                </a:solidFill>
                <a:latin typeface="Calibri" pitchFamily="34" charset="0"/>
                <a:ea typeface="Calibri" pitchFamily="34" charset="-122"/>
                <a:cs typeface="Calibri" pitchFamily="34" charset="-120"/>
              </a:rPr>
              <a:t>If we forgot — the chickens could overheat in summer, run out of water, or be left exposed to predators overnight.</a:t>
            </a:r>
            <a:endParaRPr lang="en-US" sz="1350" dirty="0"/>
          </a:p>
          <a:p>
            <a:pPr algn="l" indent="0" marL="0">
              <a:buNone/>
            </a:pPr>
            <a:r>
              <a:rPr lang="en-US" sz="1350" dirty="0">
                <a:solidFill>
                  <a:srgbClr val="1A1A1A"/>
                </a:solidFill>
                <a:latin typeface="Calibri" pitchFamily="34" charset="0"/>
                <a:ea typeface="Calibri" pitchFamily="34" charset="-122"/>
                <a:cs typeface="Calibri" pitchFamily="34" charset="-120"/>
              </a:rPr>
              <a:t> </a:t>
            </a:r>
            <a:endParaRPr lang="en-US" sz="1350" dirty="0"/>
          </a:p>
          <a:p>
            <a:pPr algn="l" indent="0" marL="0">
              <a:buNone/>
            </a:pPr>
            <a:r>
              <a:rPr lang="en-US" sz="1350" dirty="0">
                <a:solidFill>
                  <a:srgbClr val="1A1A1A"/>
                </a:solidFill>
                <a:latin typeface="Calibri" pitchFamily="34" charset="0"/>
                <a:ea typeface="Calibri" pitchFamily="34" charset="-122"/>
                <a:cs typeface="Calibri" pitchFamily="34" charset="-120"/>
              </a:rPr>
              <a:t>We decided to build a system that manages the coop automatically, so we can check on it from our phones instead of going outside every day.</a:t>
            </a:r>
            <a:endParaRPr lang="en-US" sz="1350" dirty="0"/>
          </a:p>
        </p:txBody>
      </p:sp>
      <p:sp>
        <p:nvSpPr>
          <p:cNvPr id="8" name="Shape 6"/>
          <p:cNvSpPr/>
          <p:nvPr/>
        </p:nvSpPr>
        <p:spPr>
          <a:xfrm>
            <a:off x="4709160" y="1097280"/>
            <a:ext cx="4114800" cy="5486400"/>
          </a:xfrm>
          <a:prstGeom prst="rect">
            <a:avLst/>
          </a:prstGeom>
          <a:solidFill>
            <a:srgbClr val="FFFFFF"/>
          </a:solidFill>
          <a:ln w="10160">
            <a:solidFill>
              <a:srgbClr val="E0E8E0"/>
            </a:solidFill>
            <a:prstDash val="solid"/>
          </a:ln>
          <a:effectLst>
            <a:outerShdw sx="100000" sy="100000" kx="0" ky="0" algn="bl" rotWithShape="0" blurRad="63500" dist="25400" dir="8100000">
              <a:srgbClr val="000000">
                <a:alpha val="10000"/>
              </a:srgbClr>
            </a:outerShdw>
          </a:effectLst>
        </p:spPr>
      </p:sp>
      <p:sp>
        <p:nvSpPr>
          <p:cNvPr id="9" name="Text 7"/>
          <p:cNvSpPr/>
          <p:nvPr/>
        </p:nvSpPr>
        <p:spPr>
          <a:xfrm>
            <a:off x="4892040" y="1261872"/>
            <a:ext cx="3749040" cy="411480"/>
          </a:xfrm>
          <a:prstGeom prst="rect">
            <a:avLst/>
          </a:prstGeom>
          <a:noFill/>
          <a:ln/>
        </p:spPr>
        <p:txBody>
          <a:bodyPr wrap="square" lIns="0" tIns="0" rIns="0" bIns="0" rtlCol="0" anchor="ctr"/>
          <a:lstStyle/>
          <a:p>
            <a:pPr algn="l" indent="0" marL="0">
              <a:buNone/>
            </a:pPr>
            <a:r>
              <a:rPr lang="en-US" sz="1500" b="1" dirty="0">
                <a:solidFill>
                  <a:srgbClr val="C62828"/>
                </a:solidFill>
                <a:latin typeface="Georgia" pitchFamily="34" charset="0"/>
                <a:ea typeface="Georgia" pitchFamily="34" charset="-122"/>
                <a:cs typeface="Georgia" pitchFamily="34" charset="-120"/>
              </a:rPr>
              <a:t>Daily Tasks — Before Automation</a:t>
            </a:r>
            <a:endParaRPr lang="en-US" sz="1500" dirty="0"/>
          </a:p>
        </p:txBody>
      </p:sp>
      <p:sp>
        <p:nvSpPr>
          <p:cNvPr id="10" name="Shape 8"/>
          <p:cNvSpPr/>
          <p:nvPr/>
        </p:nvSpPr>
        <p:spPr>
          <a:xfrm>
            <a:off x="4892040" y="1664208"/>
            <a:ext cx="3474720" cy="36576"/>
          </a:xfrm>
          <a:prstGeom prst="rect">
            <a:avLst/>
          </a:prstGeom>
          <a:solidFill>
            <a:srgbClr val="FFCDD2"/>
          </a:solidFill>
          <a:ln w="12700">
            <a:solidFill>
              <a:srgbClr val="FFCDD2"/>
            </a:solidFill>
            <a:prstDash val="solid"/>
          </a:ln>
        </p:spPr>
      </p:sp>
      <p:sp>
        <p:nvSpPr>
          <p:cNvPr id="11" name="Shape 9"/>
          <p:cNvSpPr/>
          <p:nvPr/>
        </p:nvSpPr>
        <p:spPr>
          <a:xfrm>
            <a:off x="4892040" y="1938528"/>
            <a:ext cx="182880" cy="182880"/>
          </a:xfrm>
          <a:prstGeom prst="ellipse">
            <a:avLst/>
          </a:prstGeom>
          <a:solidFill>
            <a:srgbClr val="E53935"/>
          </a:solidFill>
          <a:ln w="12700">
            <a:solidFill>
              <a:srgbClr val="E53935"/>
            </a:solidFill>
            <a:prstDash val="solid"/>
          </a:ln>
        </p:spPr>
      </p:sp>
      <p:sp>
        <p:nvSpPr>
          <p:cNvPr id="12" name="Text 10"/>
          <p:cNvSpPr/>
          <p:nvPr/>
        </p:nvSpPr>
        <p:spPr>
          <a:xfrm>
            <a:off x="5166360" y="1828800"/>
            <a:ext cx="2926080" cy="274320"/>
          </a:xfrm>
          <a:prstGeom prst="rect">
            <a:avLst/>
          </a:prstGeom>
          <a:noFill/>
          <a:ln/>
        </p:spPr>
        <p:txBody>
          <a:bodyPr wrap="square" lIns="0" tIns="0" rIns="0" bIns="0" rtlCol="0" anchor="ctr"/>
          <a:lstStyle/>
          <a:p>
            <a:pPr algn="l" indent="0" marL="0">
              <a:buNone/>
            </a:pPr>
            <a:r>
              <a:rPr lang="en-US" sz="1300" b="1" dirty="0">
                <a:solidFill>
                  <a:srgbClr val="1A1A1A"/>
                </a:solidFill>
                <a:latin typeface="Calibri" pitchFamily="34" charset="0"/>
                <a:ea typeface="Calibri" pitchFamily="34" charset="-122"/>
                <a:cs typeface="Calibri" pitchFamily="34" charset="-120"/>
              </a:rPr>
              <a:t>Check &amp; refill water drinker</a:t>
            </a:r>
            <a:endParaRPr lang="en-US" sz="1300" dirty="0"/>
          </a:p>
        </p:txBody>
      </p:sp>
      <p:sp>
        <p:nvSpPr>
          <p:cNvPr id="13" name="Text 11"/>
          <p:cNvSpPr/>
          <p:nvPr/>
        </p:nvSpPr>
        <p:spPr>
          <a:xfrm>
            <a:off x="5166360" y="2121408"/>
            <a:ext cx="2926080" cy="256032"/>
          </a:xfrm>
          <a:prstGeom prst="rect">
            <a:avLst/>
          </a:prstGeom>
          <a:noFill/>
          <a:ln/>
        </p:spPr>
        <p:txBody>
          <a:bodyPr wrap="square" lIns="0" tIns="0" rIns="0" bIns="0" rtlCol="0" anchor="ctr"/>
          <a:lstStyle/>
          <a:p>
            <a:pPr algn="l" indent="0" marL="0">
              <a:buNone/>
            </a:pPr>
            <a:r>
              <a:rPr lang="en-US" sz="1100" i="1" dirty="0">
                <a:solidFill>
                  <a:srgbClr val="546E7A"/>
                </a:solidFill>
                <a:latin typeface="Calibri" pitchFamily="34" charset="0"/>
                <a:ea typeface="Calibri" pitchFamily="34" charset="-122"/>
                <a:cs typeface="Calibri" pitchFamily="34" charset="-120"/>
              </a:rPr>
              <a:t>Every morning</a:t>
            </a:r>
            <a:endParaRPr lang="en-US" sz="1100" dirty="0"/>
          </a:p>
        </p:txBody>
      </p:sp>
      <p:sp>
        <p:nvSpPr>
          <p:cNvPr id="14" name="Shape 12"/>
          <p:cNvSpPr/>
          <p:nvPr/>
        </p:nvSpPr>
        <p:spPr>
          <a:xfrm>
            <a:off x="4892040" y="2651760"/>
            <a:ext cx="182880" cy="182880"/>
          </a:xfrm>
          <a:prstGeom prst="ellipse">
            <a:avLst/>
          </a:prstGeom>
          <a:solidFill>
            <a:srgbClr val="E53935"/>
          </a:solidFill>
          <a:ln w="12700">
            <a:solidFill>
              <a:srgbClr val="E53935"/>
            </a:solidFill>
            <a:prstDash val="solid"/>
          </a:ln>
        </p:spPr>
      </p:sp>
      <p:sp>
        <p:nvSpPr>
          <p:cNvPr id="15" name="Text 13"/>
          <p:cNvSpPr/>
          <p:nvPr/>
        </p:nvSpPr>
        <p:spPr>
          <a:xfrm>
            <a:off x="5166360" y="2542032"/>
            <a:ext cx="2926080" cy="274320"/>
          </a:xfrm>
          <a:prstGeom prst="rect">
            <a:avLst/>
          </a:prstGeom>
          <a:noFill/>
          <a:ln/>
        </p:spPr>
        <p:txBody>
          <a:bodyPr wrap="square" lIns="0" tIns="0" rIns="0" bIns="0" rtlCol="0" anchor="ctr"/>
          <a:lstStyle/>
          <a:p>
            <a:pPr algn="l" indent="0" marL="0">
              <a:buNone/>
            </a:pPr>
            <a:r>
              <a:rPr lang="en-US" sz="1300" b="1" dirty="0">
                <a:solidFill>
                  <a:srgbClr val="1A1A1A"/>
                </a:solidFill>
                <a:latin typeface="Calibri" pitchFamily="34" charset="0"/>
                <a:ea typeface="Calibri" pitchFamily="34" charset="-122"/>
                <a:cs typeface="Calibri" pitchFamily="34" charset="-120"/>
              </a:rPr>
              <a:t>Open coop door at sunrise</a:t>
            </a:r>
            <a:endParaRPr lang="en-US" sz="1300" dirty="0"/>
          </a:p>
        </p:txBody>
      </p:sp>
      <p:sp>
        <p:nvSpPr>
          <p:cNvPr id="16" name="Text 14"/>
          <p:cNvSpPr/>
          <p:nvPr/>
        </p:nvSpPr>
        <p:spPr>
          <a:xfrm>
            <a:off x="5166360" y="2834640"/>
            <a:ext cx="2926080" cy="256032"/>
          </a:xfrm>
          <a:prstGeom prst="rect">
            <a:avLst/>
          </a:prstGeom>
          <a:noFill/>
          <a:ln/>
        </p:spPr>
        <p:txBody>
          <a:bodyPr wrap="square" lIns="0" tIns="0" rIns="0" bIns="0" rtlCol="0" anchor="ctr"/>
          <a:lstStyle/>
          <a:p>
            <a:pPr algn="l" indent="0" marL="0">
              <a:buNone/>
            </a:pPr>
            <a:r>
              <a:rPr lang="en-US" sz="1100" i="1" dirty="0">
                <a:solidFill>
                  <a:srgbClr val="546E7A"/>
                </a:solidFill>
                <a:latin typeface="Calibri" pitchFamily="34" charset="0"/>
                <a:ea typeface="Calibri" pitchFamily="34" charset="-122"/>
                <a:cs typeface="Calibri" pitchFamily="34" charset="-120"/>
              </a:rPr>
              <a:t>Every morning</a:t>
            </a:r>
            <a:endParaRPr lang="en-US" sz="1100" dirty="0"/>
          </a:p>
        </p:txBody>
      </p:sp>
      <p:sp>
        <p:nvSpPr>
          <p:cNvPr id="17" name="Shape 15"/>
          <p:cNvSpPr/>
          <p:nvPr/>
        </p:nvSpPr>
        <p:spPr>
          <a:xfrm>
            <a:off x="4892040" y="3364992"/>
            <a:ext cx="182880" cy="182880"/>
          </a:xfrm>
          <a:prstGeom prst="ellipse">
            <a:avLst/>
          </a:prstGeom>
          <a:solidFill>
            <a:srgbClr val="E53935"/>
          </a:solidFill>
          <a:ln w="12700">
            <a:solidFill>
              <a:srgbClr val="E53935"/>
            </a:solidFill>
            <a:prstDash val="solid"/>
          </a:ln>
        </p:spPr>
      </p:sp>
      <p:sp>
        <p:nvSpPr>
          <p:cNvPr id="18" name="Text 16"/>
          <p:cNvSpPr/>
          <p:nvPr/>
        </p:nvSpPr>
        <p:spPr>
          <a:xfrm>
            <a:off x="5166360" y="3255264"/>
            <a:ext cx="2926080" cy="274320"/>
          </a:xfrm>
          <a:prstGeom prst="rect">
            <a:avLst/>
          </a:prstGeom>
          <a:noFill/>
          <a:ln/>
        </p:spPr>
        <p:txBody>
          <a:bodyPr wrap="square" lIns="0" tIns="0" rIns="0" bIns="0" rtlCol="0" anchor="ctr"/>
          <a:lstStyle/>
          <a:p>
            <a:pPr algn="l" indent="0" marL="0">
              <a:buNone/>
            </a:pPr>
            <a:r>
              <a:rPr lang="en-US" sz="1300" b="1" dirty="0">
                <a:solidFill>
                  <a:srgbClr val="1A1A1A"/>
                </a:solidFill>
                <a:latin typeface="Calibri" pitchFamily="34" charset="0"/>
                <a:ea typeface="Calibri" pitchFamily="34" charset="-122"/>
                <a:cs typeface="Calibri" pitchFamily="34" charset="-120"/>
              </a:rPr>
              <a:t>Close coop door at sunset</a:t>
            </a:r>
            <a:endParaRPr lang="en-US" sz="1300" dirty="0"/>
          </a:p>
        </p:txBody>
      </p:sp>
      <p:sp>
        <p:nvSpPr>
          <p:cNvPr id="19" name="Text 17"/>
          <p:cNvSpPr/>
          <p:nvPr/>
        </p:nvSpPr>
        <p:spPr>
          <a:xfrm>
            <a:off x="5166360" y="3547872"/>
            <a:ext cx="2926080" cy="256032"/>
          </a:xfrm>
          <a:prstGeom prst="rect">
            <a:avLst/>
          </a:prstGeom>
          <a:noFill/>
          <a:ln/>
        </p:spPr>
        <p:txBody>
          <a:bodyPr wrap="square" lIns="0" tIns="0" rIns="0" bIns="0" rtlCol="0" anchor="ctr"/>
          <a:lstStyle/>
          <a:p>
            <a:pPr algn="l" indent="0" marL="0">
              <a:buNone/>
            </a:pPr>
            <a:r>
              <a:rPr lang="en-US" sz="1100" i="1" dirty="0">
                <a:solidFill>
                  <a:srgbClr val="546E7A"/>
                </a:solidFill>
                <a:latin typeface="Calibri" pitchFamily="34" charset="0"/>
                <a:ea typeface="Calibri" pitchFamily="34" charset="-122"/>
                <a:cs typeface="Calibri" pitchFamily="34" charset="-120"/>
              </a:rPr>
              <a:t>Every evening</a:t>
            </a:r>
            <a:endParaRPr lang="en-US" sz="1100" dirty="0"/>
          </a:p>
        </p:txBody>
      </p:sp>
      <p:sp>
        <p:nvSpPr>
          <p:cNvPr id="20" name="Shape 18"/>
          <p:cNvSpPr/>
          <p:nvPr/>
        </p:nvSpPr>
        <p:spPr>
          <a:xfrm>
            <a:off x="4892040" y="4078224"/>
            <a:ext cx="182880" cy="182880"/>
          </a:xfrm>
          <a:prstGeom prst="ellipse">
            <a:avLst/>
          </a:prstGeom>
          <a:solidFill>
            <a:srgbClr val="E53935"/>
          </a:solidFill>
          <a:ln w="12700">
            <a:solidFill>
              <a:srgbClr val="E53935"/>
            </a:solidFill>
            <a:prstDash val="solid"/>
          </a:ln>
        </p:spPr>
      </p:sp>
      <p:sp>
        <p:nvSpPr>
          <p:cNvPr id="21" name="Text 19"/>
          <p:cNvSpPr/>
          <p:nvPr/>
        </p:nvSpPr>
        <p:spPr>
          <a:xfrm>
            <a:off x="5166360" y="3968496"/>
            <a:ext cx="2926080" cy="274320"/>
          </a:xfrm>
          <a:prstGeom prst="rect">
            <a:avLst/>
          </a:prstGeom>
          <a:noFill/>
          <a:ln/>
        </p:spPr>
        <p:txBody>
          <a:bodyPr wrap="square" lIns="0" tIns="0" rIns="0" bIns="0" rtlCol="0" anchor="ctr"/>
          <a:lstStyle/>
          <a:p>
            <a:pPr algn="l" indent="0" marL="0">
              <a:buNone/>
            </a:pPr>
            <a:r>
              <a:rPr lang="en-US" sz="1300" b="1" dirty="0">
                <a:solidFill>
                  <a:srgbClr val="1A1A1A"/>
                </a:solidFill>
                <a:latin typeface="Calibri" pitchFamily="34" charset="0"/>
                <a:ea typeface="Calibri" pitchFamily="34" charset="-122"/>
                <a:cs typeface="Calibri" pitchFamily="34" charset="-120"/>
              </a:rPr>
              <a:t>Check temperature in summer</a:t>
            </a:r>
            <a:endParaRPr lang="en-US" sz="1300" dirty="0"/>
          </a:p>
        </p:txBody>
      </p:sp>
      <p:sp>
        <p:nvSpPr>
          <p:cNvPr id="22" name="Text 20"/>
          <p:cNvSpPr/>
          <p:nvPr/>
        </p:nvSpPr>
        <p:spPr>
          <a:xfrm>
            <a:off x="5166360" y="4261104"/>
            <a:ext cx="2926080" cy="256032"/>
          </a:xfrm>
          <a:prstGeom prst="rect">
            <a:avLst/>
          </a:prstGeom>
          <a:noFill/>
          <a:ln/>
        </p:spPr>
        <p:txBody>
          <a:bodyPr wrap="square" lIns="0" tIns="0" rIns="0" bIns="0" rtlCol="0" anchor="ctr"/>
          <a:lstStyle/>
          <a:p>
            <a:pPr algn="l" indent="0" marL="0">
              <a:buNone/>
            </a:pPr>
            <a:r>
              <a:rPr lang="en-US" sz="1100" i="1" dirty="0">
                <a:solidFill>
                  <a:srgbClr val="546E7A"/>
                </a:solidFill>
                <a:latin typeface="Calibri" pitchFamily="34" charset="0"/>
                <a:ea typeface="Calibri" pitchFamily="34" charset="-122"/>
                <a:cs typeface="Calibri" pitchFamily="34" charset="-120"/>
              </a:rPr>
              <a:t>Hot days</a:t>
            </a:r>
            <a:endParaRPr lang="en-US" sz="1100" dirty="0"/>
          </a:p>
        </p:txBody>
      </p:sp>
      <p:sp>
        <p:nvSpPr>
          <p:cNvPr id="23" name="Shape 21"/>
          <p:cNvSpPr/>
          <p:nvPr/>
        </p:nvSpPr>
        <p:spPr>
          <a:xfrm>
            <a:off x="4892040" y="4791456"/>
            <a:ext cx="182880" cy="182880"/>
          </a:xfrm>
          <a:prstGeom prst="ellipse">
            <a:avLst/>
          </a:prstGeom>
          <a:solidFill>
            <a:srgbClr val="E53935"/>
          </a:solidFill>
          <a:ln w="12700">
            <a:solidFill>
              <a:srgbClr val="E53935"/>
            </a:solidFill>
            <a:prstDash val="solid"/>
          </a:ln>
        </p:spPr>
      </p:sp>
      <p:sp>
        <p:nvSpPr>
          <p:cNvPr id="24" name="Text 22"/>
          <p:cNvSpPr/>
          <p:nvPr/>
        </p:nvSpPr>
        <p:spPr>
          <a:xfrm>
            <a:off x="5166360" y="4681728"/>
            <a:ext cx="2926080" cy="274320"/>
          </a:xfrm>
          <a:prstGeom prst="rect">
            <a:avLst/>
          </a:prstGeom>
          <a:noFill/>
          <a:ln/>
        </p:spPr>
        <p:txBody>
          <a:bodyPr wrap="square" lIns="0" tIns="0" rIns="0" bIns="0" rtlCol="0" anchor="ctr"/>
          <a:lstStyle/>
          <a:p>
            <a:pPr algn="l" indent="0" marL="0">
              <a:buNone/>
            </a:pPr>
            <a:r>
              <a:rPr lang="en-US" sz="1300" b="1" dirty="0">
                <a:solidFill>
                  <a:srgbClr val="1A1A1A"/>
                </a:solidFill>
                <a:latin typeface="Calibri" pitchFamily="34" charset="0"/>
                <a:ea typeface="Calibri" pitchFamily="34" charset="-122"/>
                <a:cs typeface="Calibri" pitchFamily="34" charset="-120"/>
              </a:rPr>
              <a:t>Check food hopper level</a:t>
            </a:r>
            <a:endParaRPr lang="en-US" sz="1300" dirty="0"/>
          </a:p>
        </p:txBody>
      </p:sp>
      <p:sp>
        <p:nvSpPr>
          <p:cNvPr id="25" name="Text 23"/>
          <p:cNvSpPr/>
          <p:nvPr/>
        </p:nvSpPr>
        <p:spPr>
          <a:xfrm>
            <a:off x="5166360" y="4974336"/>
            <a:ext cx="2926080" cy="256032"/>
          </a:xfrm>
          <a:prstGeom prst="rect">
            <a:avLst/>
          </a:prstGeom>
          <a:noFill/>
          <a:ln/>
        </p:spPr>
        <p:txBody>
          <a:bodyPr wrap="square" lIns="0" tIns="0" rIns="0" bIns="0" rtlCol="0" anchor="ctr"/>
          <a:lstStyle/>
          <a:p>
            <a:pPr algn="l" indent="0" marL="0">
              <a:buNone/>
            </a:pPr>
            <a:r>
              <a:rPr lang="en-US" sz="1100" i="1" dirty="0">
                <a:solidFill>
                  <a:srgbClr val="546E7A"/>
                </a:solidFill>
                <a:latin typeface="Calibri" pitchFamily="34" charset="0"/>
                <a:ea typeface="Calibri" pitchFamily="34" charset="-122"/>
                <a:cs typeface="Calibri" pitchFamily="34" charset="-120"/>
              </a:rPr>
              <a:t>Every few days</a:t>
            </a:r>
            <a:endParaRPr lang="en-US" sz="1100" dirty="0"/>
          </a:p>
        </p:txBody>
      </p:sp>
      <p:sp>
        <p:nvSpPr>
          <p:cNvPr id="26" name="Shape 24"/>
          <p:cNvSpPr/>
          <p:nvPr/>
        </p:nvSpPr>
        <p:spPr>
          <a:xfrm>
            <a:off x="4892040" y="5504688"/>
            <a:ext cx="182880" cy="182880"/>
          </a:xfrm>
          <a:prstGeom prst="ellipse">
            <a:avLst/>
          </a:prstGeom>
          <a:solidFill>
            <a:srgbClr val="E53935"/>
          </a:solidFill>
          <a:ln w="12700">
            <a:solidFill>
              <a:srgbClr val="E53935"/>
            </a:solidFill>
            <a:prstDash val="solid"/>
          </a:ln>
        </p:spPr>
      </p:sp>
      <p:sp>
        <p:nvSpPr>
          <p:cNvPr id="27" name="Text 25"/>
          <p:cNvSpPr/>
          <p:nvPr/>
        </p:nvSpPr>
        <p:spPr>
          <a:xfrm>
            <a:off x="5166360" y="5394960"/>
            <a:ext cx="2926080" cy="274320"/>
          </a:xfrm>
          <a:prstGeom prst="rect">
            <a:avLst/>
          </a:prstGeom>
          <a:noFill/>
          <a:ln/>
        </p:spPr>
        <p:txBody>
          <a:bodyPr wrap="square" lIns="0" tIns="0" rIns="0" bIns="0" rtlCol="0" anchor="ctr"/>
          <a:lstStyle/>
          <a:p>
            <a:pPr algn="l" indent="0" marL="0">
              <a:buNone/>
            </a:pPr>
            <a:r>
              <a:rPr lang="en-US" sz="1300" b="1" dirty="0">
                <a:solidFill>
                  <a:srgbClr val="1A1A1A"/>
                </a:solidFill>
                <a:latin typeface="Calibri" pitchFamily="34" charset="0"/>
                <a:ea typeface="Calibri" pitchFamily="34" charset="-122"/>
                <a:cs typeface="Calibri" pitchFamily="34" charset="-120"/>
              </a:rPr>
              <a:t>Turn run lights on/off</a:t>
            </a:r>
            <a:endParaRPr lang="en-US" sz="1300" dirty="0"/>
          </a:p>
        </p:txBody>
      </p:sp>
      <p:sp>
        <p:nvSpPr>
          <p:cNvPr id="28" name="Text 26"/>
          <p:cNvSpPr/>
          <p:nvPr/>
        </p:nvSpPr>
        <p:spPr>
          <a:xfrm>
            <a:off x="5166360" y="5687568"/>
            <a:ext cx="2926080" cy="256032"/>
          </a:xfrm>
          <a:prstGeom prst="rect">
            <a:avLst/>
          </a:prstGeom>
          <a:noFill/>
          <a:ln/>
        </p:spPr>
        <p:txBody>
          <a:bodyPr wrap="square" lIns="0" tIns="0" rIns="0" bIns="0" rtlCol="0" anchor="ctr"/>
          <a:lstStyle/>
          <a:p>
            <a:pPr algn="l" indent="0" marL="0">
              <a:buNone/>
            </a:pPr>
            <a:r>
              <a:rPr lang="en-US" sz="1100" i="1" dirty="0">
                <a:solidFill>
                  <a:srgbClr val="546E7A"/>
                </a:solidFill>
                <a:latin typeface="Calibri" pitchFamily="34" charset="0"/>
                <a:ea typeface="Calibri" pitchFamily="34" charset="-122"/>
                <a:cs typeface="Calibri" pitchFamily="34" charset="-120"/>
              </a:rPr>
              <a:t>Daily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B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3D1C"/>
          </a:solidFill>
          <a:ln w="12700">
            <a:solidFill>
              <a:srgbClr val="1C3D1C"/>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7 Automated Systems</a:t>
            </a:r>
            <a:endParaRPr lang="en-US" sz="2600" dirty="0"/>
          </a:p>
        </p:txBody>
      </p:sp>
      <p:sp>
        <p:nvSpPr>
          <p:cNvPr id="4" name="Shape 2"/>
          <p:cNvSpPr/>
          <p:nvPr/>
        </p:nvSpPr>
        <p:spPr>
          <a:xfrm>
            <a:off x="320040" y="1097280"/>
            <a:ext cx="1984248" cy="2514600"/>
          </a:xfrm>
          <a:prstGeom prst="rect">
            <a:avLst/>
          </a:prstGeom>
          <a:solidFill>
            <a:srgbClr val="C62828"/>
          </a:solidFill>
          <a:ln w="12700">
            <a:solidFill>
              <a:srgbClr val="C62828"/>
            </a:solidFill>
            <a:prstDash val="solid"/>
          </a:ln>
          <a:effectLst>
            <a:outerShdw sx="100000" sy="100000" kx="0" ky="0" algn="bl" rotWithShape="0" blurRad="63500" dist="25400" dir="8100000">
              <a:srgbClr val="000000">
                <a:alpha val="10000"/>
              </a:srgbClr>
            </a:outerShdw>
          </a:effectLst>
        </p:spPr>
      </p:sp>
      <p:sp>
        <p:nvSpPr>
          <p:cNvPr id="5" name="Text 3"/>
          <p:cNvSpPr/>
          <p:nvPr/>
        </p:nvSpPr>
        <p:spPr>
          <a:xfrm>
            <a:off x="320040" y="1600200"/>
            <a:ext cx="1984248" cy="10972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Temperature</a:t>
            </a:r>
            <a:endParaRPr lang="en-US" sz="1400" dirty="0"/>
          </a:p>
          <a:p>
            <a:pPr algn="ctr" indent="0" marL="0">
              <a:buNone/>
            </a:pPr>
            <a:r>
              <a:rPr lang="en-US" sz="1400" b="1" dirty="0">
                <a:solidFill>
                  <a:srgbClr val="FFFFFF"/>
                </a:solidFill>
                <a:latin typeface="Georgia" pitchFamily="34" charset="0"/>
                <a:ea typeface="Georgia" pitchFamily="34" charset="-122"/>
                <a:cs typeface="Georgia" pitchFamily="34" charset="-120"/>
              </a:rPr>
              <a:t>Monitor</a:t>
            </a:r>
            <a:endParaRPr lang="en-US" sz="1400" dirty="0"/>
          </a:p>
        </p:txBody>
      </p:sp>
      <p:sp>
        <p:nvSpPr>
          <p:cNvPr id="6" name="Shape 4"/>
          <p:cNvSpPr/>
          <p:nvPr/>
        </p:nvSpPr>
        <p:spPr>
          <a:xfrm>
            <a:off x="320040" y="3017520"/>
            <a:ext cx="1984248" cy="594360"/>
          </a:xfrm>
          <a:prstGeom prst="rect">
            <a:avLst/>
          </a:prstGeom>
          <a:solidFill>
            <a:srgbClr val="1A3A1A"/>
          </a:solidFill>
          <a:ln w="12700">
            <a:solidFill>
              <a:srgbClr val="1A3A1A"/>
            </a:solidFill>
            <a:prstDash val="solid"/>
          </a:ln>
        </p:spPr>
      </p:sp>
      <p:sp>
        <p:nvSpPr>
          <p:cNvPr id="7" name="Text 5"/>
          <p:cNvSpPr/>
          <p:nvPr/>
        </p:nvSpPr>
        <p:spPr>
          <a:xfrm>
            <a:off x="320040" y="3017520"/>
            <a:ext cx="1984248" cy="594360"/>
          </a:xfrm>
          <a:prstGeom prst="rect">
            <a:avLst/>
          </a:prstGeom>
          <a:noFill/>
          <a:ln/>
        </p:spPr>
        <p:txBody>
          <a:bodyPr wrap="square" lIns="0" tIns="0" rIns="0" bIns="0" rtlCol="0" anchor="ctr"/>
          <a:lstStyle/>
          <a:p>
            <a:pPr algn="ctr" indent="0" marL="0">
              <a:buNone/>
            </a:pPr>
            <a:r>
              <a:rPr lang="en-US" sz="1100" dirty="0">
                <a:solidFill>
                  <a:srgbClr val="DDDDDD"/>
                </a:solidFill>
                <a:latin typeface="Calibri" pitchFamily="34" charset="0"/>
                <a:ea typeface="Calibri" pitchFamily="34" charset="-122"/>
                <a:cs typeface="Calibri" pitchFamily="34" charset="-120"/>
              </a:rPr>
              <a:t>DHT22 sensor</a:t>
            </a:r>
            <a:endParaRPr lang="en-US" sz="1100" dirty="0"/>
          </a:p>
        </p:txBody>
      </p:sp>
      <p:sp>
        <p:nvSpPr>
          <p:cNvPr id="8" name="Shape 6"/>
          <p:cNvSpPr/>
          <p:nvPr/>
        </p:nvSpPr>
        <p:spPr>
          <a:xfrm>
            <a:off x="2496312" y="1097280"/>
            <a:ext cx="1984248" cy="2514600"/>
          </a:xfrm>
          <a:prstGeom prst="rect">
            <a:avLst/>
          </a:prstGeom>
          <a:solidFill>
            <a:srgbClr val="1565C0"/>
          </a:solidFill>
          <a:ln w="12700">
            <a:solidFill>
              <a:srgbClr val="1565C0"/>
            </a:solidFill>
            <a:prstDash val="solid"/>
          </a:ln>
          <a:effectLst>
            <a:outerShdw sx="100000" sy="100000" kx="0" ky="0" algn="bl" rotWithShape="0" blurRad="63500" dist="25400" dir="8100000">
              <a:srgbClr val="000000">
                <a:alpha val="10000"/>
              </a:srgbClr>
            </a:outerShdw>
          </a:effectLst>
        </p:spPr>
      </p:sp>
      <p:sp>
        <p:nvSpPr>
          <p:cNvPr id="9" name="Text 7"/>
          <p:cNvSpPr/>
          <p:nvPr/>
        </p:nvSpPr>
        <p:spPr>
          <a:xfrm>
            <a:off x="2496312" y="1600200"/>
            <a:ext cx="1984248" cy="10972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Vent Sliders</a:t>
            </a:r>
            <a:endParaRPr lang="en-US" sz="1400" dirty="0"/>
          </a:p>
        </p:txBody>
      </p:sp>
      <p:sp>
        <p:nvSpPr>
          <p:cNvPr id="10" name="Shape 8"/>
          <p:cNvSpPr/>
          <p:nvPr/>
        </p:nvSpPr>
        <p:spPr>
          <a:xfrm>
            <a:off x="2496312" y="3017520"/>
            <a:ext cx="1984248" cy="594360"/>
          </a:xfrm>
          <a:prstGeom prst="rect">
            <a:avLst/>
          </a:prstGeom>
          <a:solidFill>
            <a:srgbClr val="1A3A1A"/>
          </a:solidFill>
          <a:ln w="12700">
            <a:solidFill>
              <a:srgbClr val="1A3A1A"/>
            </a:solidFill>
            <a:prstDash val="solid"/>
          </a:ln>
        </p:spPr>
      </p:sp>
      <p:sp>
        <p:nvSpPr>
          <p:cNvPr id="11" name="Text 9"/>
          <p:cNvSpPr/>
          <p:nvPr/>
        </p:nvSpPr>
        <p:spPr>
          <a:xfrm>
            <a:off x="2496312" y="3017520"/>
            <a:ext cx="1984248" cy="594360"/>
          </a:xfrm>
          <a:prstGeom prst="rect">
            <a:avLst/>
          </a:prstGeom>
          <a:noFill/>
          <a:ln/>
        </p:spPr>
        <p:txBody>
          <a:bodyPr wrap="square" lIns="0" tIns="0" rIns="0" bIns="0" rtlCol="0" anchor="ctr"/>
          <a:lstStyle/>
          <a:p>
            <a:pPr algn="ctr" indent="0" marL="0">
              <a:buNone/>
            </a:pPr>
            <a:r>
              <a:rPr lang="en-US" sz="1100" dirty="0">
                <a:solidFill>
                  <a:srgbClr val="DDDDDD"/>
                </a:solidFill>
                <a:latin typeface="Calibri" pitchFamily="34" charset="0"/>
                <a:ea typeface="Calibri" pitchFamily="34" charset="-122"/>
                <a:cs typeface="Calibri" pitchFamily="34" charset="-120"/>
              </a:rPr>
              <a:t>2× MG996R servo</a:t>
            </a:r>
            <a:endParaRPr lang="en-US" sz="1100" dirty="0"/>
          </a:p>
        </p:txBody>
      </p:sp>
      <p:sp>
        <p:nvSpPr>
          <p:cNvPr id="12" name="Shape 10"/>
          <p:cNvSpPr/>
          <p:nvPr/>
        </p:nvSpPr>
        <p:spPr>
          <a:xfrm>
            <a:off x="4672584" y="1097280"/>
            <a:ext cx="1984248" cy="2514600"/>
          </a:xfrm>
          <a:prstGeom prst="rect">
            <a:avLst/>
          </a:prstGeom>
          <a:solidFill>
            <a:srgbClr val="00695C"/>
          </a:solidFill>
          <a:ln w="12700">
            <a:solidFill>
              <a:srgbClr val="00695C"/>
            </a:solidFill>
            <a:prstDash val="solid"/>
          </a:ln>
          <a:effectLst>
            <a:outerShdw sx="100000" sy="100000" kx="0" ky="0" algn="bl" rotWithShape="0" blurRad="63500" dist="25400" dir="8100000">
              <a:srgbClr val="000000">
                <a:alpha val="10000"/>
              </a:srgbClr>
            </a:outerShdw>
          </a:effectLst>
        </p:spPr>
      </p:sp>
      <p:sp>
        <p:nvSpPr>
          <p:cNvPr id="13" name="Text 11"/>
          <p:cNvSpPr/>
          <p:nvPr/>
        </p:nvSpPr>
        <p:spPr>
          <a:xfrm>
            <a:off x="4672584" y="1600200"/>
            <a:ext cx="1984248" cy="10972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Circulation</a:t>
            </a:r>
            <a:endParaRPr lang="en-US" sz="1400" dirty="0"/>
          </a:p>
          <a:p>
            <a:pPr algn="ctr" indent="0" marL="0">
              <a:buNone/>
            </a:pPr>
            <a:r>
              <a:rPr lang="en-US" sz="1400" b="1" dirty="0">
                <a:solidFill>
                  <a:srgbClr val="FFFFFF"/>
                </a:solidFill>
                <a:latin typeface="Georgia" pitchFamily="34" charset="0"/>
                <a:ea typeface="Georgia" pitchFamily="34" charset="-122"/>
                <a:cs typeface="Georgia" pitchFamily="34" charset="-120"/>
              </a:rPr>
              <a:t>Fan</a:t>
            </a:r>
            <a:endParaRPr lang="en-US" sz="1400" dirty="0"/>
          </a:p>
        </p:txBody>
      </p:sp>
      <p:sp>
        <p:nvSpPr>
          <p:cNvPr id="14" name="Shape 12"/>
          <p:cNvSpPr/>
          <p:nvPr/>
        </p:nvSpPr>
        <p:spPr>
          <a:xfrm>
            <a:off x="4672584" y="3017520"/>
            <a:ext cx="1984248" cy="594360"/>
          </a:xfrm>
          <a:prstGeom prst="rect">
            <a:avLst/>
          </a:prstGeom>
          <a:solidFill>
            <a:srgbClr val="1A3A1A"/>
          </a:solidFill>
          <a:ln w="12700">
            <a:solidFill>
              <a:srgbClr val="1A3A1A"/>
            </a:solidFill>
            <a:prstDash val="solid"/>
          </a:ln>
        </p:spPr>
      </p:sp>
      <p:sp>
        <p:nvSpPr>
          <p:cNvPr id="15" name="Text 13"/>
          <p:cNvSpPr/>
          <p:nvPr/>
        </p:nvSpPr>
        <p:spPr>
          <a:xfrm>
            <a:off x="4672584" y="3017520"/>
            <a:ext cx="1984248" cy="594360"/>
          </a:xfrm>
          <a:prstGeom prst="rect">
            <a:avLst/>
          </a:prstGeom>
          <a:noFill/>
          <a:ln/>
        </p:spPr>
        <p:txBody>
          <a:bodyPr wrap="square" lIns="0" tIns="0" rIns="0" bIns="0" rtlCol="0" anchor="ctr"/>
          <a:lstStyle/>
          <a:p>
            <a:pPr algn="ctr" indent="0" marL="0">
              <a:buNone/>
            </a:pPr>
            <a:r>
              <a:rPr lang="en-US" sz="1100" dirty="0">
                <a:solidFill>
                  <a:srgbClr val="DDDDDD"/>
                </a:solidFill>
                <a:latin typeface="Calibri" pitchFamily="34" charset="0"/>
                <a:ea typeface="Calibri" pitchFamily="34" charset="-122"/>
                <a:cs typeface="Calibri" pitchFamily="34" charset="-120"/>
              </a:rPr>
              <a:t>12V PC fan</a:t>
            </a:r>
            <a:endParaRPr lang="en-US" sz="1100" dirty="0"/>
          </a:p>
        </p:txBody>
      </p:sp>
      <p:sp>
        <p:nvSpPr>
          <p:cNvPr id="16" name="Shape 14"/>
          <p:cNvSpPr/>
          <p:nvPr/>
        </p:nvSpPr>
        <p:spPr>
          <a:xfrm>
            <a:off x="6848856" y="1097280"/>
            <a:ext cx="1984248" cy="2514600"/>
          </a:xfrm>
          <a:prstGeom prst="rect">
            <a:avLst/>
          </a:prstGeom>
          <a:solidFill>
            <a:srgbClr val="0277BD"/>
          </a:solidFill>
          <a:ln w="12700">
            <a:solidFill>
              <a:srgbClr val="0277BD"/>
            </a:solidFill>
            <a:prstDash val="solid"/>
          </a:ln>
          <a:effectLst>
            <a:outerShdw sx="100000" sy="100000" kx="0" ky="0" algn="bl" rotWithShape="0" blurRad="63500" dist="25400" dir="8100000">
              <a:srgbClr val="000000">
                <a:alpha val="10000"/>
              </a:srgbClr>
            </a:outerShdw>
          </a:effectLst>
        </p:spPr>
      </p:sp>
      <p:sp>
        <p:nvSpPr>
          <p:cNvPr id="17" name="Text 15"/>
          <p:cNvSpPr/>
          <p:nvPr/>
        </p:nvSpPr>
        <p:spPr>
          <a:xfrm>
            <a:off x="6848856" y="1600200"/>
            <a:ext cx="1984248" cy="10972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Water Level</a:t>
            </a:r>
            <a:endParaRPr lang="en-US" sz="1400" dirty="0"/>
          </a:p>
          <a:p>
            <a:pPr algn="ctr" indent="0" marL="0">
              <a:buNone/>
            </a:pPr>
            <a:r>
              <a:rPr lang="en-US" sz="1400" b="1" dirty="0">
                <a:solidFill>
                  <a:srgbClr val="FFFFFF"/>
                </a:solidFill>
                <a:latin typeface="Georgia" pitchFamily="34" charset="0"/>
                <a:ea typeface="Georgia" pitchFamily="34" charset="-122"/>
                <a:cs typeface="Georgia" pitchFamily="34" charset="-120"/>
              </a:rPr>
              <a:t>Monitor</a:t>
            </a:r>
            <a:endParaRPr lang="en-US" sz="1400" dirty="0"/>
          </a:p>
        </p:txBody>
      </p:sp>
      <p:sp>
        <p:nvSpPr>
          <p:cNvPr id="18" name="Shape 16"/>
          <p:cNvSpPr/>
          <p:nvPr/>
        </p:nvSpPr>
        <p:spPr>
          <a:xfrm>
            <a:off x="6848856" y="3017520"/>
            <a:ext cx="1984248" cy="594360"/>
          </a:xfrm>
          <a:prstGeom prst="rect">
            <a:avLst/>
          </a:prstGeom>
          <a:solidFill>
            <a:srgbClr val="1A3A1A"/>
          </a:solidFill>
          <a:ln w="12700">
            <a:solidFill>
              <a:srgbClr val="1A3A1A"/>
            </a:solidFill>
            <a:prstDash val="solid"/>
          </a:ln>
        </p:spPr>
      </p:sp>
      <p:sp>
        <p:nvSpPr>
          <p:cNvPr id="19" name="Text 17"/>
          <p:cNvSpPr/>
          <p:nvPr/>
        </p:nvSpPr>
        <p:spPr>
          <a:xfrm>
            <a:off x="6848856" y="3017520"/>
            <a:ext cx="1984248" cy="594360"/>
          </a:xfrm>
          <a:prstGeom prst="rect">
            <a:avLst/>
          </a:prstGeom>
          <a:noFill/>
          <a:ln/>
        </p:spPr>
        <p:txBody>
          <a:bodyPr wrap="square" lIns="0" tIns="0" rIns="0" bIns="0" rtlCol="0" anchor="ctr"/>
          <a:lstStyle/>
          <a:p>
            <a:pPr algn="ctr" indent="0" marL="0">
              <a:buNone/>
            </a:pPr>
            <a:r>
              <a:rPr lang="en-US" sz="1100" dirty="0">
                <a:solidFill>
                  <a:srgbClr val="DDDDDD"/>
                </a:solidFill>
                <a:latin typeface="Calibri" pitchFamily="34" charset="0"/>
                <a:ea typeface="Calibri" pitchFamily="34" charset="-122"/>
                <a:cs typeface="Calibri" pitchFamily="34" charset="-120"/>
              </a:rPr>
              <a:t>Float switches</a:t>
            </a:r>
            <a:endParaRPr lang="en-US" sz="1100" dirty="0"/>
          </a:p>
        </p:txBody>
      </p:sp>
      <p:sp>
        <p:nvSpPr>
          <p:cNvPr id="20" name="Shape 18"/>
          <p:cNvSpPr/>
          <p:nvPr/>
        </p:nvSpPr>
        <p:spPr>
          <a:xfrm>
            <a:off x="1408176" y="3840480"/>
            <a:ext cx="1984248" cy="2514600"/>
          </a:xfrm>
          <a:prstGeom prst="rect">
            <a:avLst/>
          </a:prstGeom>
          <a:solidFill>
            <a:srgbClr val="2E7D32"/>
          </a:solidFill>
          <a:ln w="12700">
            <a:solidFill>
              <a:srgbClr val="2E7D32"/>
            </a:solidFill>
            <a:prstDash val="solid"/>
          </a:ln>
          <a:effectLst>
            <a:outerShdw sx="100000" sy="100000" kx="0" ky="0" algn="bl" rotWithShape="0" blurRad="63500" dist="25400" dir="8100000">
              <a:srgbClr val="000000">
                <a:alpha val="10000"/>
              </a:srgbClr>
            </a:outerShdw>
          </a:effectLst>
        </p:spPr>
      </p:sp>
      <p:sp>
        <p:nvSpPr>
          <p:cNvPr id="21" name="Text 19"/>
          <p:cNvSpPr/>
          <p:nvPr/>
        </p:nvSpPr>
        <p:spPr>
          <a:xfrm>
            <a:off x="1408176" y="4343400"/>
            <a:ext cx="1984248" cy="10972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Automatic</a:t>
            </a:r>
            <a:endParaRPr lang="en-US" sz="1400" dirty="0"/>
          </a:p>
          <a:p>
            <a:pPr algn="ctr" indent="0" marL="0">
              <a:buNone/>
            </a:pPr>
            <a:r>
              <a:rPr lang="en-US" sz="1400" b="1" dirty="0">
                <a:solidFill>
                  <a:srgbClr val="FFFFFF"/>
                </a:solidFill>
                <a:latin typeface="Georgia" pitchFamily="34" charset="0"/>
                <a:ea typeface="Georgia" pitchFamily="34" charset="-122"/>
                <a:cs typeface="Georgia" pitchFamily="34" charset="-120"/>
              </a:rPr>
              <a:t>Door</a:t>
            </a:r>
            <a:endParaRPr lang="en-US" sz="1400" dirty="0"/>
          </a:p>
        </p:txBody>
      </p:sp>
      <p:sp>
        <p:nvSpPr>
          <p:cNvPr id="22" name="Shape 20"/>
          <p:cNvSpPr/>
          <p:nvPr/>
        </p:nvSpPr>
        <p:spPr>
          <a:xfrm>
            <a:off x="1408176" y="5760720"/>
            <a:ext cx="1984248" cy="594360"/>
          </a:xfrm>
          <a:prstGeom prst="rect">
            <a:avLst/>
          </a:prstGeom>
          <a:solidFill>
            <a:srgbClr val="1A3A1A"/>
          </a:solidFill>
          <a:ln w="12700">
            <a:solidFill>
              <a:srgbClr val="1A3A1A"/>
            </a:solidFill>
            <a:prstDash val="solid"/>
          </a:ln>
        </p:spPr>
      </p:sp>
      <p:sp>
        <p:nvSpPr>
          <p:cNvPr id="23" name="Text 21"/>
          <p:cNvSpPr/>
          <p:nvPr/>
        </p:nvSpPr>
        <p:spPr>
          <a:xfrm>
            <a:off x="1408176" y="5760720"/>
            <a:ext cx="1984248" cy="594360"/>
          </a:xfrm>
          <a:prstGeom prst="rect">
            <a:avLst/>
          </a:prstGeom>
          <a:noFill/>
          <a:ln/>
        </p:spPr>
        <p:txBody>
          <a:bodyPr wrap="square" lIns="0" tIns="0" rIns="0" bIns="0" rtlCol="0" anchor="ctr"/>
          <a:lstStyle/>
          <a:p>
            <a:pPr algn="ctr" indent="0" marL="0">
              <a:buNone/>
            </a:pPr>
            <a:r>
              <a:rPr lang="en-US" sz="1100" dirty="0">
                <a:solidFill>
                  <a:srgbClr val="DDDDDD"/>
                </a:solidFill>
                <a:latin typeface="Calibri" pitchFamily="34" charset="0"/>
                <a:ea typeface="Calibri" pitchFamily="34" charset="-122"/>
                <a:cs typeface="Calibri" pitchFamily="34" charset="-120"/>
              </a:rPr>
              <a:t>Linear actuator</a:t>
            </a:r>
            <a:endParaRPr lang="en-US" sz="1100" dirty="0"/>
          </a:p>
        </p:txBody>
      </p:sp>
      <p:sp>
        <p:nvSpPr>
          <p:cNvPr id="24" name="Shape 22"/>
          <p:cNvSpPr/>
          <p:nvPr/>
        </p:nvSpPr>
        <p:spPr>
          <a:xfrm>
            <a:off x="3584448" y="3840480"/>
            <a:ext cx="1984248" cy="2514600"/>
          </a:xfrm>
          <a:prstGeom prst="rect">
            <a:avLst/>
          </a:prstGeom>
          <a:solidFill>
            <a:srgbClr val="E65100"/>
          </a:solidFill>
          <a:ln w="12700">
            <a:solidFill>
              <a:srgbClr val="E65100"/>
            </a:solidFill>
            <a:prstDash val="solid"/>
          </a:ln>
          <a:effectLst>
            <a:outerShdw sx="100000" sy="100000" kx="0" ky="0" algn="bl" rotWithShape="0" blurRad="63500" dist="25400" dir="8100000">
              <a:srgbClr val="000000">
                <a:alpha val="10000"/>
              </a:srgbClr>
            </a:outerShdw>
          </a:effectLst>
        </p:spPr>
      </p:sp>
      <p:sp>
        <p:nvSpPr>
          <p:cNvPr id="25" name="Text 23"/>
          <p:cNvSpPr/>
          <p:nvPr/>
        </p:nvSpPr>
        <p:spPr>
          <a:xfrm>
            <a:off x="3584448" y="4343400"/>
            <a:ext cx="1984248" cy="10972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Automatic</a:t>
            </a:r>
            <a:endParaRPr lang="en-US" sz="1400" dirty="0"/>
          </a:p>
          <a:p>
            <a:pPr algn="ctr" indent="0" marL="0">
              <a:buNone/>
            </a:pPr>
            <a:r>
              <a:rPr lang="en-US" sz="1400" b="1" dirty="0">
                <a:solidFill>
                  <a:srgbClr val="FFFFFF"/>
                </a:solidFill>
                <a:latin typeface="Georgia" pitchFamily="34" charset="0"/>
                <a:ea typeface="Georgia" pitchFamily="34" charset="-122"/>
                <a:cs typeface="Georgia" pitchFamily="34" charset="-120"/>
              </a:rPr>
              <a:t>Lights</a:t>
            </a:r>
            <a:endParaRPr lang="en-US" sz="1400" dirty="0"/>
          </a:p>
        </p:txBody>
      </p:sp>
      <p:sp>
        <p:nvSpPr>
          <p:cNvPr id="26" name="Shape 24"/>
          <p:cNvSpPr/>
          <p:nvPr/>
        </p:nvSpPr>
        <p:spPr>
          <a:xfrm>
            <a:off x="3584448" y="5760720"/>
            <a:ext cx="1984248" cy="594360"/>
          </a:xfrm>
          <a:prstGeom prst="rect">
            <a:avLst/>
          </a:prstGeom>
          <a:solidFill>
            <a:srgbClr val="1A3A1A"/>
          </a:solidFill>
          <a:ln w="12700">
            <a:solidFill>
              <a:srgbClr val="1A3A1A"/>
            </a:solidFill>
            <a:prstDash val="solid"/>
          </a:ln>
        </p:spPr>
      </p:sp>
      <p:sp>
        <p:nvSpPr>
          <p:cNvPr id="27" name="Text 25"/>
          <p:cNvSpPr/>
          <p:nvPr/>
        </p:nvSpPr>
        <p:spPr>
          <a:xfrm>
            <a:off x="3584448" y="5760720"/>
            <a:ext cx="1984248" cy="594360"/>
          </a:xfrm>
          <a:prstGeom prst="rect">
            <a:avLst/>
          </a:prstGeom>
          <a:noFill/>
          <a:ln/>
        </p:spPr>
        <p:txBody>
          <a:bodyPr wrap="square" lIns="0" tIns="0" rIns="0" bIns="0" rtlCol="0" anchor="ctr"/>
          <a:lstStyle/>
          <a:p>
            <a:pPr algn="ctr" indent="0" marL="0">
              <a:buNone/>
            </a:pPr>
            <a:r>
              <a:rPr lang="en-US" sz="1100" dirty="0">
                <a:solidFill>
                  <a:srgbClr val="DDDDDD"/>
                </a:solidFill>
                <a:latin typeface="Calibri" pitchFamily="34" charset="0"/>
                <a:ea typeface="Calibri" pitchFamily="34" charset="-122"/>
                <a:cs typeface="Calibri" pitchFamily="34" charset="-120"/>
              </a:rPr>
              <a:t>LED strips</a:t>
            </a:r>
            <a:endParaRPr lang="en-US" sz="1100" dirty="0"/>
          </a:p>
        </p:txBody>
      </p:sp>
      <p:sp>
        <p:nvSpPr>
          <p:cNvPr id="28" name="Shape 26"/>
          <p:cNvSpPr/>
          <p:nvPr/>
        </p:nvSpPr>
        <p:spPr>
          <a:xfrm>
            <a:off x="5760720" y="3840480"/>
            <a:ext cx="1984248" cy="2514600"/>
          </a:xfrm>
          <a:prstGeom prst="rect">
            <a:avLst/>
          </a:prstGeom>
          <a:solidFill>
            <a:srgbClr val="6A1B9A"/>
          </a:solidFill>
          <a:ln w="12700">
            <a:solidFill>
              <a:srgbClr val="6A1B9A"/>
            </a:solidFill>
            <a:prstDash val="solid"/>
          </a:ln>
          <a:effectLst>
            <a:outerShdw sx="100000" sy="100000" kx="0" ky="0" algn="bl" rotWithShape="0" blurRad="63500" dist="25400" dir="8100000">
              <a:srgbClr val="000000">
                <a:alpha val="10000"/>
              </a:srgbClr>
            </a:outerShdw>
          </a:effectLst>
        </p:spPr>
      </p:sp>
      <p:sp>
        <p:nvSpPr>
          <p:cNvPr id="29" name="Text 27"/>
          <p:cNvSpPr/>
          <p:nvPr/>
        </p:nvSpPr>
        <p:spPr>
          <a:xfrm>
            <a:off x="5760720" y="4343400"/>
            <a:ext cx="1984248" cy="109728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Food Level</a:t>
            </a:r>
            <a:endParaRPr lang="en-US" sz="1400" dirty="0"/>
          </a:p>
          <a:p>
            <a:pPr algn="ctr" indent="0" marL="0">
              <a:buNone/>
            </a:pPr>
            <a:r>
              <a:rPr lang="en-US" sz="1400" b="1" dirty="0">
                <a:solidFill>
                  <a:srgbClr val="FFFFFF"/>
                </a:solidFill>
                <a:latin typeface="Georgia" pitchFamily="34" charset="0"/>
                <a:ea typeface="Georgia" pitchFamily="34" charset="-122"/>
                <a:cs typeface="Georgia" pitchFamily="34" charset="-120"/>
              </a:rPr>
              <a:t>Indicator</a:t>
            </a:r>
            <a:endParaRPr lang="en-US" sz="1400" dirty="0"/>
          </a:p>
        </p:txBody>
      </p:sp>
      <p:sp>
        <p:nvSpPr>
          <p:cNvPr id="30" name="Shape 28"/>
          <p:cNvSpPr/>
          <p:nvPr/>
        </p:nvSpPr>
        <p:spPr>
          <a:xfrm>
            <a:off x="5760720" y="5760720"/>
            <a:ext cx="1984248" cy="594360"/>
          </a:xfrm>
          <a:prstGeom prst="rect">
            <a:avLst/>
          </a:prstGeom>
          <a:solidFill>
            <a:srgbClr val="1A3A1A"/>
          </a:solidFill>
          <a:ln w="12700">
            <a:solidFill>
              <a:srgbClr val="1A3A1A"/>
            </a:solidFill>
            <a:prstDash val="solid"/>
          </a:ln>
        </p:spPr>
      </p:sp>
      <p:sp>
        <p:nvSpPr>
          <p:cNvPr id="31" name="Text 29"/>
          <p:cNvSpPr/>
          <p:nvPr/>
        </p:nvSpPr>
        <p:spPr>
          <a:xfrm>
            <a:off x="5760720" y="5760720"/>
            <a:ext cx="1984248" cy="594360"/>
          </a:xfrm>
          <a:prstGeom prst="rect">
            <a:avLst/>
          </a:prstGeom>
          <a:noFill/>
          <a:ln/>
        </p:spPr>
        <p:txBody>
          <a:bodyPr wrap="square" lIns="0" tIns="0" rIns="0" bIns="0" rtlCol="0" anchor="ctr"/>
          <a:lstStyle/>
          <a:p>
            <a:pPr algn="ctr" indent="0" marL="0">
              <a:buNone/>
            </a:pPr>
            <a:r>
              <a:rPr lang="en-US" sz="1100" dirty="0">
                <a:solidFill>
                  <a:srgbClr val="DDDDDD"/>
                </a:solidFill>
                <a:latin typeface="Calibri" pitchFamily="34" charset="0"/>
                <a:ea typeface="Calibri" pitchFamily="34" charset="-122"/>
                <a:cs typeface="Calibri" pitchFamily="34" charset="-120"/>
              </a:rPr>
              <a:t>Lever + pot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B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3D1C"/>
          </a:solidFill>
          <a:ln w="12700">
            <a:solidFill>
              <a:srgbClr val="1C3D1C"/>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The Hardware</a:t>
            </a:r>
            <a:endParaRPr lang="en-US" sz="2600" dirty="0"/>
          </a:p>
        </p:txBody>
      </p:sp>
      <p:sp>
        <p:nvSpPr>
          <p:cNvPr id="4" name="Shape 2"/>
          <p:cNvSpPr/>
          <p:nvPr/>
        </p:nvSpPr>
        <p:spPr>
          <a:xfrm>
            <a:off x="320040" y="1097280"/>
            <a:ext cx="4114800" cy="5486400"/>
          </a:xfrm>
          <a:prstGeom prst="rect">
            <a:avLst/>
          </a:prstGeom>
          <a:solidFill>
            <a:srgbClr val="FFFFFF"/>
          </a:solidFill>
          <a:ln w="10160">
            <a:solidFill>
              <a:srgbClr val="E0E8E0"/>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320040" y="1097280"/>
            <a:ext cx="4114800" cy="548640"/>
          </a:xfrm>
          <a:prstGeom prst="rect">
            <a:avLst/>
          </a:prstGeom>
          <a:solidFill>
            <a:srgbClr val="1C3D1C"/>
          </a:solidFill>
          <a:ln w="12700">
            <a:solidFill>
              <a:srgbClr val="1C3D1C"/>
            </a:solidFill>
            <a:prstDash val="solid"/>
          </a:ln>
        </p:spPr>
      </p:sp>
      <p:sp>
        <p:nvSpPr>
          <p:cNvPr id="6" name="Text 4"/>
          <p:cNvSpPr/>
          <p:nvPr/>
        </p:nvSpPr>
        <p:spPr>
          <a:xfrm>
            <a:off x="457200" y="1097280"/>
            <a:ext cx="3840480" cy="548640"/>
          </a:xfrm>
          <a:prstGeom prst="rect">
            <a:avLst/>
          </a:prstGeom>
          <a:noFill/>
          <a:ln/>
        </p:spPr>
        <p:txBody>
          <a:bodyPr wrap="square" lIns="0" tIns="0" rIns="0" bIns="0" rtlCol="0" anchor="ctr"/>
          <a:lstStyle/>
          <a:p>
            <a:pPr algn="l" indent="0" marL="0">
              <a:buNone/>
            </a:pPr>
            <a:r>
              <a:rPr lang="en-US" sz="1500" b="1" dirty="0">
                <a:solidFill>
                  <a:srgbClr val="FFFFFF"/>
                </a:solidFill>
                <a:latin typeface="Georgia" pitchFamily="34" charset="0"/>
                <a:ea typeface="Georgia" pitchFamily="34" charset="-122"/>
                <a:cs typeface="Georgia" pitchFamily="34" charset="-120"/>
              </a:rPr>
              <a:t>Raspberry Pi 5</a:t>
            </a:r>
            <a:endParaRPr lang="en-US" sz="1500" dirty="0"/>
          </a:p>
        </p:txBody>
      </p:sp>
      <p:sp>
        <p:nvSpPr>
          <p:cNvPr id="7" name="Shape 5"/>
          <p:cNvSpPr/>
          <p:nvPr/>
        </p:nvSpPr>
        <p:spPr>
          <a:xfrm>
            <a:off x="457200" y="1883664"/>
            <a:ext cx="54864" cy="320040"/>
          </a:xfrm>
          <a:prstGeom prst="rect">
            <a:avLst/>
          </a:prstGeom>
          <a:solidFill>
            <a:srgbClr val="4CAF50"/>
          </a:solidFill>
          <a:ln w="12700">
            <a:solidFill>
              <a:srgbClr val="4CAF50"/>
            </a:solidFill>
            <a:prstDash val="solid"/>
          </a:ln>
        </p:spPr>
      </p:sp>
      <p:sp>
        <p:nvSpPr>
          <p:cNvPr id="8" name="Text 6"/>
          <p:cNvSpPr/>
          <p:nvPr/>
        </p:nvSpPr>
        <p:spPr>
          <a:xfrm>
            <a:off x="640080" y="1828800"/>
            <a:ext cx="3566160" cy="256032"/>
          </a:xfrm>
          <a:prstGeom prst="rect">
            <a:avLst/>
          </a:prstGeom>
          <a:noFill/>
          <a:ln/>
        </p:spPr>
        <p:txBody>
          <a:bodyPr wrap="square" lIns="0" tIns="0" rIns="0" bIns="0" rtlCol="0" anchor="ctr"/>
          <a:lstStyle/>
          <a:p>
            <a:pPr algn="l" indent="0" marL="0">
              <a:buNone/>
            </a:pPr>
            <a:r>
              <a:rPr lang="en-US" sz="1250" b="1" dirty="0">
                <a:solidFill>
                  <a:srgbClr val="1C3D1C"/>
                </a:solidFill>
                <a:latin typeface="Calibri" pitchFamily="34" charset="0"/>
                <a:ea typeface="Calibri" pitchFamily="34" charset="-122"/>
                <a:cs typeface="Calibri" pitchFamily="34" charset="-120"/>
              </a:rPr>
              <a:t>Brain of the system</a:t>
            </a:r>
            <a:endParaRPr lang="en-US" sz="1250" dirty="0"/>
          </a:p>
        </p:txBody>
      </p:sp>
      <p:sp>
        <p:nvSpPr>
          <p:cNvPr id="9" name="Text 7"/>
          <p:cNvSpPr/>
          <p:nvPr/>
        </p:nvSpPr>
        <p:spPr>
          <a:xfrm>
            <a:off x="640080" y="2103120"/>
            <a:ext cx="3566160" cy="274320"/>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Runs all the Python automation code</a:t>
            </a:r>
            <a:endParaRPr lang="en-US" sz="1150" dirty="0"/>
          </a:p>
        </p:txBody>
      </p:sp>
      <p:sp>
        <p:nvSpPr>
          <p:cNvPr id="10" name="Shape 8"/>
          <p:cNvSpPr/>
          <p:nvPr/>
        </p:nvSpPr>
        <p:spPr>
          <a:xfrm>
            <a:off x="457200" y="2587752"/>
            <a:ext cx="54864" cy="320040"/>
          </a:xfrm>
          <a:prstGeom prst="rect">
            <a:avLst/>
          </a:prstGeom>
          <a:solidFill>
            <a:srgbClr val="4CAF50"/>
          </a:solidFill>
          <a:ln w="12700">
            <a:solidFill>
              <a:srgbClr val="4CAF50"/>
            </a:solidFill>
            <a:prstDash val="solid"/>
          </a:ln>
        </p:spPr>
      </p:sp>
      <p:sp>
        <p:nvSpPr>
          <p:cNvPr id="11" name="Text 9"/>
          <p:cNvSpPr/>
          <p:nvPr/>
        </p:nvSpPr>
        <p:spPr>
          <a:xfrm>
            <a:off x="640080" y="2532888"/>
            <a:ext cx="3566160" cy="256032"/>
          </a:xfrm>
          <a:prstGeom prst="rect">
            <a:avLst/>
          </a:prstGeom>
          <a:noFill/>
          <a:ln/>
        </p:spPr>
        <p:txBody>
          <a:bodyPr wrap="square" lIns="0" tIns="0" rIns="0" bIns="0" rtlCol="0" anchor="ctr"/>
          <a:lstStyle/>
          <a:p>
            <a:pPr algn="l" indent="0" marL="0">
              <a:buNone/>
            </a:pPr>
            <a:r>
              <a:rPr lang="en-US" sz="1250" b="1" dirty="0">
                <a:solidFill>
                  <a:srgbClr val="1C3D1C"/>
                </a:solidFill>
                <a:latin typeface="Calibri" pitchFamily="34" charset="0"/>
                <a:ea typeface="Calibri" pitchFamily="34" charset="-122"/>
                <a:cs typeface="Calibri" pitchFamily="34" charset="-120"/>
              </a:rPr>
              <a:t>64-bit quad-core CPU</a:t>
            </a:r>
            <a:endParaRPr lang="en-US" sz="1250" dirty="0"/>
          </a:p>
        </p:txBody>
      </p:sp>
      <p:sp>
        <p:nvSpPr>
          <p:cNvPr id="12" name="Text 10"/>
          <p:cNvSpPr/>
          <p:nvPr/>
        </p:nvSpPr>
        <p:spPr>
          <a:xfrm>
            <a:off x="640080" y="2807208"/>
            <a:ext cx="3566160" cy="274320"/>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Fast enough to handle all sensors at once</a:t>
            </a:r>
            <a:endParaRPr lang="en-US" sz="1150" dirty="0"/>
          </a:p>
        </p:txBody>
      </p:sp>
      <p:sp>
        <p:nvSpPr>
          <p:cNvPr id="13" name="Shape 11"/>
          <p:cNvSpPr/>
          <p:nvPr/>
        </p:nvSpPr>
        <p:spPr>
          <a:xfrm>
            <a:off x="457200" y="3291840"/>
            <a:ext cx="54864" cy="320040"/>
          </a:xfrm>
          <a:prstGeom prst="rect">
            <a:avLst/>
          </a:prstGeom>
          <a:solidFill>
            <a:srgbClr val="4CAF50"/>
          </a:solidFill>
          <a:ln w="12700">
            <a:solidFill>
              <a:srgbClr val="4CAF50"/>
            </a:solidFill>
            <a:prstDash val="solid"/>
          </a:ln>
        </p:spPr>
      </p:sp>
      <p:sp>
        <p:nvSpPr>
          <p:cNvPr id="14" name="Text 12"/>
          <p:cNvSpPr/>
          <p:nvPr/>
        </p:nvSpPr>
        <p:spPr>
          <a:xfrm>
            <a:off x="640080" y="3236976"/>
            <a:ext cx="3566160" cy="256032"/>
          </a:xfrm>
          <a:prstGeom prst="rect">
            <a:avLst/>
          </a:prstGeom>
          <a:noFill/>
          <a:ln/>
        </p:spPr>
        <p:txBody>
          <a:bodyPr wrap="square" lIns="0" tIns="0" rIns="0" bIns="0" rtlCol="0" anchor="ctr"/>
          <a:lstStyle/>
          <a:p>
            <a:pPr algn="l" indent="0" marL="0">
              <a:buNone/>
            </a:pPr>
            <a:r>
              <a:rPr lang="en-US" sz="1250" b="1" dirty="0">
                <a:solidFill>
                  <a:srgbClr val="1C3D1C"/>
                </a:solidFill>
                <a:latin typeface="Calibri" pitchFamily="34" charset="0"/>
                <a:ea typeface="Calibri" pitchFamily="34" charset="-122"/>
                <a:cs typeface="Calibri" pitchFamily="34" charset="-120"/>
              </a:rPr>
              <a:t>WiFi built in</a:t>
            </a:r>
            <a:endParaRPr lang="en-US" sz="1250" dirty="0"/>
          </a:p>
        </p:txBody>
      </p:sp>
      <p:sp>
        <p:nvSpPr>
          <p:cNvPr id="15" name="Text 13"/>
          <p:cNvSpPr/>
          <p:nvPr/>
        </p:nvSpPr>
        <p:spPr>
          <a:xfrm>
            <a:off x="640080" y="3511296"/>
            <a:ext cx="3566160" cy="274320"/>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Serves the debug web panel on your network</a:t>
            </a:r>
            <a:endParaRPr lang="en-US" sz="1150" dirty="0"/>
          </a:p>
        </p:txBody>
      </p:sp>
      <p:sp>
        <p:nvSpPr>
          <p:cNvPr id="16" name="Shape 14"/>
          <p:cNvSpPr/>
          <p:nvPr/>
        </p:nvSpPr>
        <p:spPr>
          <a:xfrm>
            <a:off x="457200" y="3995928"/>
            <a:ext cx="54864" cy="320040"/>
          </a:xfrm>
          <a:prstGeom prst="rect">
            <a:avLst/>
          </a:prstGeom>
          <a:solidFill>
            <a:srgbClr val="4CAF50"/>
          </a:solidFill>
          <a:ln w="12700">
            <a:solidFill>
              <a:srgbClr val="4CAF50"/>
            </a:solidFill>
            <a:prstDash val="solid"/>
          </a:ln>
        </p:spPr>
      </p:sp>
      <p:sp>
        <p:nvSpPr>
          <p:cNvPr id="17" name="Text 15"/>
          <p:cNvSpPr/>
          <p:nvPr/>
        </p:nvSpPr>
        <p:spPr>
          <a:xfrm>
            <a:off x="640080" y="3941064"/>
            <a:ext cx="3566160" cy="256032"/>
          </a:xfrm>
          <a:prstGeom prst="rect">
            <a:avLst/>
          </a:prstGeom>
          <a:noFill/>
          <a:ln/>
        </p:spPr>
        <p:txBody>
          <a:bodyPr wrap="square" lIns="0" tIns="0" rIns="0" bIns="0" rtlCol="0" anchor="ctr"/>
          <a:lstStyle/>
          <a:p>
            <a:pPr algn="l" indent="0" marL="0">
              <a:buNone/>
            </a:pPr>
            <a:r>
              <a:rPr lang="en-US" sz="1250" b="1" dirty="0">
                <a:solidFill>
                  <a:srgbClr val="1C3D1C"/>
                </a:solidFill>
                <a:latin typeface="Calibri" pitchFamily="34" charset="0"/>
                <a:ea typeface="Calibri" pitchFamily="34" charset="-122"/>
                <a:cs typeface="Calibri" pitchFamily="34" charset="-120"/>
              </a:rPr>
              <a:t>40-pin GPIO header</a:t>
            </a:r>
            <a:endParaRPr lang="en-US" sz="1250" dirty="0"/>
          </a:p>
        </p:txBody>
      </p:sp>
      <p:sp>
        <p:nvSpPr>
          <p:cNvPr id="18" name="Text 16"/>
          <p:cNvSpPr/>
          <p:nvPr/>
        </p:nvSpPr>
        <p:spPr>
          <a:xfrm>
            <a:off x="640080" y="4215384"/>
            <a:ext cx="3566160" cy="274320"/>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Connects to sensors, relays, and motor drivers</a:t>
            </a:r>
            <a:endParaRPr lang="en-US" sz="1150" dirty="0"/>
          </a:p>
        </p:txBody>
      </p:sp>
      <p:sp>
        <p:nvSpPr>
          <p:cNvPr id="19" name="Shape 17"/>
          <p:cNvSpPr/>
          <p:nvPr/>
        </p:nvSpPr>
        <p:spPr>
          <a:xfrm>
            <a:off x="457200" y="4700016"/>
            <a:ext cx="54864" cy="320040"/>
          </a:xfrm>
          <a:prstGeom prst="rect">
            <a:avLst/>
          </a:prstGeom>
          <a:solidFill>
            <a:srgbClr val="4CAF50"/>
          </a:solidFill>
          <a:ln w="12700">
            <a:solidFill>
              <a:srgbClr val="4CAF50"/>
            </a:solidFill>
            <a:prstDash val="solid"/>
          </a:ln>
        </p:spPr>
      </p:sp>
      <p:sp>
        <p:nvSpPr>
          <p:cNvPr id="20" name="Text 18"/>
          <p:cNvSpPr/>
          <p:nvPr/>
        </p:nvSpPr>
        <p:spPr>
          <a:xfrm>
            <a:off x="640080" y="4645152"/>
            <a:ext cx="3566160" cy="256032"/>
          </a:xfrm>
          <a:prstGeom prst="rect">
            <a:avLst/>
          </a:prstGeom>
          <a:noFill/>
          <a:ln/>
        </p:spPr>
        <p:txBody>
          <a:bodyPr wrap="square" lIns="0" tIns="0" rIns="0" bIns="0" rtlCol="0" anchor="ctr"/>
          <a:lstStyle/>
          <a:p>
            <a:pPr algn="l" indent="0" marL="0">
              <a:buNone/>
            </a:pPr>
            <a:r>
              <a:rPr lang="en-US" sz="1250" b="1" dirty="0">
                <a:solidFill>
                  <a:srgbClr val="1C3D1C"/>
                </a:solidFill>
                <a:latin typeface="Calibri" pitchFamily="34" charset="0"/>
                <a:ea typeface="Calibri" pitchFamily="34" charset="-122"/>
                <a:cs typeface="Calibri" pitchFamily="34" charset="-120"/>
              </a:rPr>
              <a:t>I2C + SPI buses</a:t>
            </a:r>
            <a:endParaRPr lang="en-US" sz="1250" dirty="0"/>
          </a:p>
        </p:txBody>
      </p:sp>
      <p:sp>
        <p:nvSpPr>
          <p:cNvPr id="21" name="Text 19"/>
          <p:cNvSpPr/>
          <p:nvPr/>
        </p:nvSpPr>
        <p:spPr>
          <a:xfrm>
            <a:off x="640080" y="4919472"/>
            <a:ext cx="3566160" cy="274320"/>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Talks to the PCA9685 and MCP3008 chips</a:t>
            </a:r>
            <a:endParaRPr lang="en-US" sz="1150" dirty="0"/>
          </a:p>
        </p:txBody>
      </p:sp>
      <p:sp>
        <p:nvSpPr>
          <p:cNvPr id="22" name="Shape 20"/>
          <p:cNvSpPr/>
          <p:nvPr/>
        </p:nvSpPr>
        <p:spPr>
          <a:xfrm>
            <a:off x="457200" y="5404104"/>
            <a:ext cx="54864" cy="320040"/>
          </a:xfrm>
          <a:prstGeom prst="rect">
            <a:avLst/>
          </a:prstGeom>
          <a:solidFill>
            <a:srgbClr val="4CAF50"/>
          </a:solidFill>
          <a:ln w="12700">
            <a:solidFill>
              <a:srgbClr val="4CAF50"/>
            </a:solidFill>
            <a:prstDash val="solid"/>
          </a:ln>
        </p:spPr>
      </p:sp>
      <p:sp>
        <p:nvSpPr>
          <p:cNvPr id="23" name="Text 21"/>
          <p:cNvSpPr/>
          <p:nvPr/>
        </p:nvSpPr>
        <p:spPr>
          <a:xfrm>
            <a:off x="640080" y="5349240"/>
            <a:ext cx="3566160" cy="256032"/>
          </a:xfrm>
          <a:prstGeom prst="rect">
            <a:avLst/>
          </a:prstGeom>
          <a:noFill/>
          <a:ln/>
        </p:spPr>
        <p:txBody>
          <a:bodyPr wrap="square" lIns="0" tIns="0" rIns="0" bIns="0" rtlCol="0" anchor="ctr"/>
          <a:lstStyle/>
          <a:p>
            <a:pPr algn="l" indent="0" marL="0">
              <a:buNone/>
            </a:pPr>
            <a:r>
              <a:rPr lang="en-US" sz="1250" b="1" dirty="0">
                <a:solidFill>
                  <a:srgbClr val="1C3D1C"/>
                </a:solidFill>
                <a:latin typeface="Calibri" pitchFamily="34" charset="0"/>
                <a:ea typeface="Calibri" pitchFamily="34" charset="-122"/>
                <a:cs typeface="Calibri" pitchFamily="34" charset="-120"/>
              </a:rPr>
              <a:t>Pi 5 note</a:t>
            </a:r>
            <a:endParaRPr lang="en-US" sz="1250" dirty="0"/>
          </a:p>
        </p:txBody>
      </p:sp>
      <p:sp>
        <p:nvSpPr>
          <p:cNvPr id="24" name="Text 22"/>
          <p:cNvSpPr/>
          <p:nvPr/>
        </p:nvSpPr>
        <p:spPr>
          <a:xfrm>
            <a:off x="640080" y="5623560"/>
            <a:ext cx="3566160" cy="274320"/>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Uses the new RP1 GPIO chip — needs lgpio library, not RPi.GPIO</a:t>
            </a:r>
            <a:endParaRPr lang="en-US" sz="1150" dirty="0"/>
          </a:p>
        </p:txBody>
      </p:sp>
      <p:sp>
        <p:nvSpPr>
          <p:cNvPr id="25" name="Shape 23"/>
          <p:cNvSpPr/>
          <p:nvPr/>
        </p:nvSpPr>
        <p:spPr>
          <a:xfrm>
            <a:off x="4709160" y="1097280"/>
            <a:ext cx="4114800" cy="2606040"/>
          </a:xfrm>
          <a:prstGeom prst="rect">
            <a:avLst/>
          </a:prstGeom>
          <a:solidFill>
            <a:srgbClr val="FFFFFF"/>
          </a:solidFill>
          <a:ln w="10160">
            <a:solidFill>
              <a:srgbClr val="E0E8E0"/>
            </a:solidFill>
            <a:prstDash val="solid"/>
          </a:ln>
          <a:effectLst>
            <a:outerShdw sx="100000" sy="100000" kx="0" ky="0" algn="bl" rotWithShape="0" blurRad="63500" dist="25400" dir="8100000">
              <a:srgbClr val="000000">
                <a:alpha val="10000"/>
              </a:srgbClr>
            </a:outerShdw>
          </a:effectLst>
        </p:spPr>
      </p:sp>
      <p:sp>
        <p:nvSpPr>
          <p:cNvPr id="26" name="Shape 24"/>
          <p:cNvSpPr/>
          <p:nvPr/>
        </p:nvSpPr>
        <p:spPr>
          <a:xfrm>
            <a:off x="4709160" y="1097280"/>
            <a:ext cx="4114800" cy="548640"/>
          </a:xfrm>
          <a:prstGeom prst="rect">
            <a:avLst/>
          </a:prstGeom>
          <a:solidFill>
            <a:srgbClr val="1565C0"/>
          </a:solidFill>
          <a:ln w="12700">
            <a:solidFill>
              <a:srgbClr val="1565C0"/>
            </a:solidFill>
            <a:prstDash val="solid"/>
          </a:ln>
        </p:spPr>
      </p:sp>
      <p:sp>
        <p:nvSpPr>
          <p:cNvPr id="27" name="Text 25"/>
          <p:cNvSpPr/>
          <p:nvPr/>
        </p:nvSpPr>
        <p:spPr>
          <a:xfrm>
            <a:off x="4846320" y="1097280"/>
            <a:ext cx="3840480" cy="548640"/>
          </a:xfrm>
          <a:prstGeom prst="rect">
            <a:avLst/>
          </a:prstGeom>
          <a:noFill/>
          <a:ln/>
        </p:spPr>
        <p:txBody>
          <a:bodyPr wrap="square" lIns="0" tIns="0" rIns="0" bIns="0" rtlCol="0" anchor="ctr"/>
          <a:lstStyle/>
          <a:p>
            <a:pPr algn="l" indent="0" marL="0">
              <a:buNone/>
            </a:pPr>
            <a:r>
              <a:rPr lang="en-US" sz="1400" b="1" dirty="0">
                <a:solidFill>
                  <a:srgbClr val="FFFFFF"/>
                </a:solidFill>
                <a:latin typeface="Georgia" pitchFamily="34" charset="0"/>
                <a:ea typeface="Georgia" pitchFamily="34" charset="-122"/>
                <a:cs typeface="Georgia" pitchFamily="34" charset="-120"/>
              </a:rPr>
              <a:t>PCA9685 — Servo Driver</a:t>
            </a:r>
            <a:endParaRPr lang="en-US" sz="1400" dirty="0"/>
          </a:p>
        </p:txBody>
      </p:sp>
      <p:sp>
        <p:nvSpPr>
          <p:cNvPr id="28" name="Text 26"/>
          <p:cNvSpPr/>
          <p:nvPr/>
        </p:nvSpPr>
        <p:spPr>
          <a:xfrm>
            <a:off x="4846320" y="1737360"/>
            <a:ext cx="3794760" cy="1691640"/>
          </a:xfrm>
          <a:prstGeom prst="rect">
            <a:avLst/>
          </a:prstGeom>
          <a:noFill/>
          <a:ln/>
        </p:spPr>
        <p:txBody>
          <a:bodyPr wrap="square" lIns="0" tIns="0" rIns="0" bIns="0" rtlCol="0" anchor="t"/>
          <a:lstStyle/>
          <a:p>
            <a:pPr algn="l" indent="0" marL="0">
              <a:buNone/>
            </a:pPr>
            <a:r>
              <a:rPr lang="en-US" sz="1250" dirty="0">
                <a:solidFill>
                  <a:srgbClr val="1A1A1A"/>
                </a:solidFill>
                <a:latin typeface="Calibri" pitchFamily="34" charset="0"/>
                <a:ea typeface="Calibri" pitchFamily="34" charset="-122"/>
                <a:cs typeface="Calibri" pitchFamily="34" charset="-120"/>
              </a:rPr>
              <a:t>Same board used in the workshop dust collection system.</a:t>
            </a:r>
            <a:endParaRPr lang="en-US" sz="1250" dirty="0"/>
          </a:p>
          <a:p>
            <a:pPr algn="l" indent="0" marL="0">
              <a:buNone/>
            </a:pPr>
            <a:r>
              <a:rPr lang="en-US" sz="1250" dirty="0">
                <a:solidFill>
                  <a:srgbClr val="1A1A1A"/>
                </a:solidFill>
                <a:latin typeface="Calibri" pitchFamily="34" charset="0"/>
                <a:ea typeface="Calibri" pitchFamily="34" charset="-122"/>
                <a:cs typeface="Calibri" pitchFamily="34" charset="-120"/>
              </a:rPr>
              <a:t>Connects to Pi via I2C (just 4 wires). Controls up to 16 servos from a single board. We use channels 0 and 1 for the two vent sliders.</a:t>
            </a:r>
            <a:endParaRPr lang="en-US" sz="1250" dirty="0"/>
          </a:p>
        </p:txBody>
      </p:sp>
      <p:sp>
        <p:nvSpPr>
          <p:cNvPr id="29" name="Shape 27"/>
          <p:cNvSpPr/>
          <p:nvPr/>
        </p:nvSpPr>
        <p:spPr>
          <a:xfrm>
            <a:off x="4709160" y="3858768"/>
            <a:ext cx="4114800" cy="2724912"/>
          </a:xfrm>
          <a:prstGeom prst="rect">
            <a:avLst/>
          </a:prstGeom>
          <a:solidFill>
            <a:srgbClr val="FFFFFF"/>
          </a:solidFill>
          <a:ln w="10160">
            <a:solidFill>
              <a:srgbClr val="E0E8E0"/>
            </a:solidFill>
            <a:prstDash val="solid"/>
          </a:ln>
          <a:effectLst>
            <a:outerShdw sx="100000" sy="100000" kx="0" ky="0" algn="bl" rotWithShape="0" blurRad="63500" dist="25400" dir="8100000">
              <a:srgbClr val="000000">
                <a:alpha val="10000"/>
              </a:srgbClr>
            </a:outerShdw>
          </a:effectLst>
        </p:spPr>
      </p:sp>
      <p:sp>
        <p:nvSpPr>
          <p:cNvPr id="30" name="Shape 28"/>
          <p:cNvSpPr/>
          <p:nvPr/>
        </p:nvSpPr>
        <p:spPr>
          <a:xfrm>
            <a:off x="4709160" y="3858768"/>
            <a:ext cx="4114800" cy="548640"/>
          </a:xfrm>
          <a:prstGeom prst="rect">
            <a:avLst/>
          </a:prstGeom>
          <a:solidFill>
            <a:srgbClr val="6A1B9A"/>
          </a:solidFill>
          <a:ln w="12700">
            <a:solidFill>
              <a:srgbClr val="6A1B9A"/>
            </a:solidFill>
            <a:prstDash val="solid"/>
          </a:ln>
        </p:spPr>
      </p:sp>
      <p:sp>
        <p:nvSpPr>
          <p:cNvPr id="31" name="Text 29"/>
          <p:cNvSpPr/>
          <p:nvPr/>
        </p:nvSpPr>
        <p:spPr>
          <a:xfrm>
            <a:off x="4846320" y="3858768"/>
            <a:ext cx="3840480" cy="548640"/>
          </a:xfrm>
          <a:prstGeom prst="rect">
            <a:avLst/>
          </a:prstGeom>
          <a:noFill/>
          <a:ln/>
        </p:spPr>
        <p:txBody>
          <a:bodyPr wrap="square" lIns="0" tIns="0" rIns="0" bIns="0" rtlCol="0" anchor="ctr"/>
          <a:lstStyle/>
          <a:p>
            <a:pPr algn="l" indent="0" marL="0">
              <a:buNone/>
            </a:pPr>
            <a:r>
              <a:rPr lang="en-US" sz="1400" b="1" dirty="0">
                <a:solidFill>
                  <a:srgbClr val="FFFFFF"/>
                </a:solidFill>
                <a:latin typeface="Georgia" pitchFamily="34" charset="0"/>
                <a:ea typeface="Georgia" pitchFamily="34" charset="-122"/>
                <a:cs typeface="Georgia" pitchFamily="34" charset="-120"/>
              </a:rPr>
              <a:t>MCP3008 — Analog Input Chip</a:t>
            </a:r>
            <a:endParaRPr lang="en-US" sz="1400" dirty="0"/>
          </a:p>
        </p:txBody>
      </p:sp>
      <p:sp>
        <p:nvSpPr>
          <p:cNvPr id="32" name="Text 30"/>
          <p:cNvSpPr/>
          <p:nvPr/>
        </p:nvSpPr>
        <p:spPr>
          <a:xfrm>
            <a:off x="4846320" y="4498848"/>
            <a:ext cx="3794760" cy="1920240"/>
          </a:xfrm>
          <a:prstGeom prst="rect">
            <a:avLst/>
          </a:prstGeom>
          <a:noFill/>
          <a:ln/>
        </p:spPr>
        <p:txBody>
          <a:bodyPr wrap="square" lIns="0" tIns="0" rIns="0" bIns="0" rtlCol="0" anchor="t"/>
          <a:lstStyle/>
          <a:p>
            <a:pPr algn="l" indent="0" marL="0">
              <a:buNone/>
            </a:pPr>
            <a:r>
              <a:rPr lang="en-US" sz="1250" dirty="0">
                <a:solidFill>
                  <a:srgbClr val="1A1A1A"/>
                </a:solidFill>
                <a:latin typeface="Calibri" pitchFamily="34" charset="0"/>
                <a:ea typeface="Calibri" pitchFamily="34" charset="-122"/>
                <a:cs typeface="Calibri" pitchFamily="34" charset="-120"/>
              </a:rPr>
              <a:t>The Pi 5 has no analog input pins, so it can't directly read sensors that output a voltage (like the LDR or potentiometer).</a:t>
            </a:r>
            <a:endParaRPr lang="en-US" sz="1250" dirty="0"/>
          </a:p>
          <a:p>
            <a:pPr algn="l" indent="0" marL="0">
              <a:buNone/>
            </a:pPr>
            <a:r>
              <a:rPr lang="en-US" sz="1250" dirty="0">
                <a:solidFill>
                  <a:srgbClr val="1A1A1A"/>
                </a:solidFill>
                <a:latin typeface="Calibri" pitchFamily="34" charset="0"/>
                <a:ea typeface="Calibri" pitchFamily="34" charset="-122"/>
                <a:cs typeface="Calibri" pitchFamily="34" charset="-120"/>
              </a:rPr>
              <a:t>The MCP3008 converts analog voltages to digital values over SPI. 8 channels — we use 2: one for the light sensor, one for the food lever.</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B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3D1C"/>
          </a:solidFill>
          <a:ln w="12700">
            <a:solidFill>
              <a:srgbClr val="1C3D1C"/>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Temperature &amp; Ventilation</a:t>
            </a:r>
            <a:endParaRPr lang="en-US" sz="2600" dirty="0"/>
          </a:p>
        </p:txBody>
      </p:sp>
      <p:sp>
        <p:nvSpPr>
          <p:cNvPr id="4" name="Shape 2"/>
          <p:cNvSpPr/>
          <p:nvPr/>
        </p:nvSpPr>
        <p:spPr>
          <a:xfrm>
            <a:off x="320040" y="1097280"/>
            <a:ext cx="4114800" cy="5486400"/>
          </a:xfrm>
          <a:prstGeom prst="rect">
            <a:avLst/>
          </a:prstGeom>
          <a:solidFill>
            <a:srgbClr val="FFFFFF"/>
          </a:solidFill>
          <a:ln w="10160">
            <a:solidFill>
              <a:srgbClr val="E0E8E0"/>
            </a:solidFill>
            <a:prstDash val="solid"/>
          </a:ln>
          <a:effectLst>
            <a:outerShdw sx="100000" sy="100000" kx="0" ky="0" algn="bl" rotWithShape="0" blurRad="63500" dist="25400" dir="8100000">
              <a:srgbClr val="000000">
                <a:alpha val="10000"/>
              </a:srgbClr>
            </a:outerShdw>
          </a:effectLst>
        </p:spPr>
      </p:sp>
      <p:sp>
        <p:nvSpPr>
          <p:cNvPr id="5" name="Text 3"/>
          <p:cNvSpPr/>
          <p:nvPr/>
        </p:nvSpPr>
        <p:spPr>
          <a:xfrm>
            <a:off x="502920" y="1261872"/>
            <a:ext cx="3749040" cy="384048"/>
          </a:xfrm>
          <a:prstGeom prst="rect">
            <a:avLst/>
          </a:prstGeom>
          <a:noFill/>
          <a:ln/>
        </p:spPr>
        <p:txBody>
          <a:bodyPr wrap="square" lIns="0" tIns="0" rIns="0" bIns="0" rtlCol="0" anchor="ctr"/>
          <a:lstStyle/>
          <a:p>
            <a:pPr algn="l" indent="0" marL="0">
              <a:buNone/>
            </a:pPr>
            <a:r>
              <a:rPr lang="en-US" sz="1500" b="1" dirty="0">
                <a:solidFill>
                  <a:srgbClr val="1C3D1C"/>
                </a:solidFill>
                <a:latin typeface="Georgia" pitchFamily="34" charset="0"/>
                <a:ea typeface="Georgia" pitchFamily="34" charset="-122"/>
                <a:cs typeface="Georgia" pitchFamily="34" charset="-120"/>
              </a:rPr>
              <a:t>How It Works</a:t>
            </a:r>
            <a:endParaRPr lang="en-US" sz="1500" dirty="0"/>
          </a:p>
        </p:txBody>
      </p:sp>
      <p:sp>
        <p:nvSpPr>
          <p:cNvPr id="6" name="Shape 4"/>
          <p:cNvSpPr/>
          <p:nvPr/>
        </p:nvSpPr>
        <p:spPr>
          <a:xfrm>
            <a:off x="475488" y="1819656"/>
            <a:ext cx="237744" cy="237744"/>
          </a:xfrm>
          <a:prstGeom prst="ellipse">
            <a:avLst/>
          </a:prstGeom>
          <a:solidFill>
            <a:srgbClr val="C62828"/>
          </a:solidFill>
          <a:ln w="12700">
            <a:solidFill>
              <a:srgbClr val="C62828"/>
            </a:solidFill>
            <a:prstDash val="solid"/>
          </a:ln>
        </p:spPr>
      </p:sp>
      <p:sp>
        <p:nvSpPr>
          <p:cNvPr id="7" name="Text 5"/>
          <p:cNvSpPr/>
          <p:nvPr/>
        </p:nvSpPr>
        <p:spPr>
          <a:xfrm>
            <a:off x="475488" y="181965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6"/>
          <p:cNvSpPr/>
          <p:nvPr/>
        </p:nvSpPr>
        <p:spPr>
          <a:xfrm>
            <a:off x="822960" y="1755648"/>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DHT22 reads every 10 sec</a:t>
            </a:r>
            <a:endParaRPr lang="en-US" sz="1250" dirty="0"/>
          </a:p>
        </p:txBody>
      </p:sp>
      <p:sp>
        <p:nvSpPr>
          <p:cNvPr id="9" name="Text 7"/>
          <p:cNvSpPr/>
          <p:nvPr/>
        </p:nvSpPr>
        <p:spPr>
          <a:xfrm>
            <a:off x="822960" y="2029968"/>
            <a:ext cx="3429000" cy="438912"/>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Measures temperature and humidity inside the coop</a:t>
            </a:r>
            <a:endParaRPr lang="en-US" sz="1150" dirty="0"/>
          </a:p>
        </p:txBody>
      </p:sp>
      <p:sp>
        <p:nvSpPr>
          <p:cNvPr id="10" name="Shape 8"/>
          <p:cNvSpPr/>
          <p:nvPr/>
        </p:nvSpPr>
        <p:spPr>
          <a:xfrm>
            <a:off x="475488" y="2688336"/>
            <a:ext cx="237744" cy="237744"/>
          </a:xfrm>
          <a:prstGeom prst="ellipse">
            <a:avLst/>
          </a:prstGeom>
          <a:solidFill>
            <a:srgbClr val="C62828"/>
          </a:solidFill>
          <a:ln w="12700">
            <a:solidFill>
              <a:srgbClr val="C62828"/>
            </a:solidFill>
            <a:prstDash val="solid"/>
          </a:ln>
        </p:spPr>
      </p:sp>
      <p:sp>
        <p:nvSpPr>
          <p:cNvPr id="11" name="Text 9"/>
          <p:cNvSpPr/>
          <p:nvPr/>
        </p:nvSpPr>
        <p:spPr>
          <a:xfrm>
            <a:off x="475488" y="268833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2" name="Text 10"/>
          <p:cNvSpPr/>
          <p:nvPr/>
        </p:nvSpPr>
        <p:spPr>
          <a:xfrm>
            <a:off x="822960" y="2624328"/>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Above 27°C — vents open</a:t>
            </a:r>
            <a:endParaRPr lang="en-US" sz="1250" dirty="0"/>
          </a:p>
        </p:txBody>
      </p:sp>
      <p:sp>
        <p:nvSpPr>
          <p:cNvPr id="13" name="Text 11"/>
          <p:cNvSpPr/>
          <p:nvPr/>
        </p:nvSpPr>
        <p:spPr>
          <a:xfrm>
            <a:off x="822960" y="2898648"/>
            <a:ext cx="3429000" cy="438912"/>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Two MG996R servos (via PCA9685) push the vent sliders open</a:t>
            </a:r>
            <a:endParaRPr lang="en-US" sz="1150" dirty="0"/>
          </a:p>
        </p:txBody>
      </p:sp>
      <p:sp>
        <p:nvSpPr>
          <p:cNvPr id="14" name="Shape 12"/>
          <p:cNvSpPr/>
          <p:nvPr/>
        </p:nvSpPr>
        <p:spPr>
          <a:xfrm>
            <a:off x="475488" y="3557016"/>
            <a:ext cx="237744" cy="237744"/>
          </a:xfrm>
          <a:prstGeom prst="ellipse">
            <a:avLst/>
          </a:prstGeom>
          <a:solidFill>
            <a:srgbClr val="C62828"/>
          </a:solidFill>
          <a:ln w="12700">
            <a:solidFill>
              <a:srgbClr val="C62828"/>
            </a:solidFill>
            <a:prstDash val="solid"/>
          </a:ln>
        </p:spPr>
      </p:sp>
      <p:sp>
        <p:nvSpPr>
          <p:cNvPr id="15" name="Text 13"/>
          <p:cNvSpPr/>
          <p:nvPr/>
        </p:nvSpPr>
        <p:spPr>
          <a:xfrm>
            <a:off x="475488" y="355701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6" name="Text 14"/>
          <p:cNvSpPr/>
          <p:nvPr/>
        </p:nvSpPr>
        <p:spPr>
          <a:xfrm>
            <a:off x="822960" y="3493008"/>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Below 25°C — vents close</a:t>
            </a:r>
            <a:endParaRPr lang="en-US" sz="1250" dirty="0"/>
          </a:p>
        </p:txBody>
      </p:sp>
      <p:sp>
        <p:nvSpPr>
          <p:cNvPr id="17" name="Text 15"/>
          <p:cNvSpPr/>
          <p:nvPr/>
        </p:nvSpPr>
        <p:spPr>
          <a:xfrm>
            <a:off x="822960" y="3767328"/>
            <a:ext cx="3429000" cy="438912"/>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2°C gap prevents the servos from constantly toggling</a:t>
            </a:r>
            <a:endParaRPr lang="en-US" sz="1150" dirty="0"/>
          </a:p>
        </p:txBody>
      </p:sp>
      <p:sp>
        <p:nvSpPr>
          <p:cNvPr id="18" name="Shape 16"/>
          <p:cNvSpPr/>
          <p:nvPr/>
        </p:nvSpPr>
        <p:spPr>
          <a:xfrm>
            <a:off x="475488" y="4425696"/>
            <a:ext cx="237744" cy="237744"/>
          </a:xfrm>
          <a:prstGeom prst="ellipse">
            <a:avLst/>
          </a:prstGeom>
          <a:solidFill>
            <a:srgbClr val="C62828"/>
          </a:solidFill>
          <a:ln w="12700">
            <a:solidFill>
              <a:srgbClr val="C62828"/>
            </a:solidFill>
            <a:prstDash val="solid"/>
          </a:ln>
        </p:spPr>
      </p:sp>
      <p:sp>
        <p:nvSpPr>
          <p:cNvPr id="19" name="Text 17"/>
          <p:cNvSpPr/>
          <p:nvPr/>
        </p:nvSpPr>
        <p:spPr>
          <a:xfrm>
            <a:off x="475488" y="442569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0" name="Text 18"/>
          <p:cNvSpPr/>
          <p:nvPr/>
        </p:nvSpPr>
        <p:spPr>
          <a:xfrm>
            <a:off x="822960" y="4361688"/>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Above 30°C — fan on</a:t>
            </a:r>
            <a:endParaRPr lang="en-US" sz="1250" dirty="0"/>
          </a:p>
        </p:txBody>
      </p:sp>
      <p:sp>
        <p:nvSpPr>
          <p:cNvPr id="21" name="Text 19"/>
          <p:cNvSpPr/>
          <p:nvPr/>
        </p:nvSpPr>
        <p:spPr>
          <a:xfrm>
            <a:off x="822960" y="4636008"/>
            <a:ext cx="3429000" cy="438912"/>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12V PC fan switches on via relay to push fresh air through</a:t>
            </a:r>
            <a:endParaRPr lang="en-US" sz="1150" dirty="0"/>
          </a:p>
        </p:txBody>
      </p:sp>
      <p:sp>
        <p:nvSpPr>
          <p:cNvPr id="22" name="Shape 20"/>
          <p:cNvSpPr/>
          <p:nvPr/>
        </p:nvSpPr>
        <p:spPr>
          <a:xfrm>
            <a:off x="475488" y="5294376"/>
            <a:ext cx="237744" cy="237744"/>
          </a:xfrm>
          <a:prstGeom prst="ellipse">
            <a:avLst/>
          </a:prstGeom>
          <a:solidFill>
            <a:srgbClr val="C62828"/>
          </a:solidFill>
          <a:ln w="12700">
            <a:solidFill>
              <a:srgbClr val="C62828"/>
            </a:solidFill>
            <a:prstDash val="solid"/>
          </a:ln>
        </p:spPr>
      </p:sp>
      <p:sp>
        <p:nvSpPr>
          <p:cNvPr id="23" name="Text 21"/>
          <p:cNvSpPr/>
          <p:nvPr/>
        </p:nvSpPr>
        <p:spPr>
          <a:xfrm>
            <a:off x="475488" y="529437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22960" y="5230368"/>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Below 28°C — fan off</a:t>
            </a:r>
            <a:endParaRPr lang="en-US" sz="1250" dirty="0"/>
          </a:p>
        </p:txBody>
      </p:sp>
      <p:sp>
        <p:nvSpPr>
          <p:cNvPr id="25" name="Text 23"/>
          <p:cNvSpPr/>
          <p:nvPr/>
        </p:nvSpPr>
        <p:spPr>
          <a:xfrm>
            <a:off x="822960" y="5504688"/>
            <a:ext cx="3429000" cy="438912"/>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Fan stays off below this to avoid overcooling</a:t>
            </a:r>
            <a:endParaRPr lang="en-US" sz="1150" dirty="0"/>
          </a:p>
        </p:txBody>
      </p:sp>
      <p:sp>
        <p:nvSpPr>
          <p:cNvPr id="26" name="Shape 24"/>
          <p:cNvSpPr/>
          <p:nvPr/>
        </p:nvSpPr>
        <p:spPr>
          <a:xfrm>
            <a:off x="4709160" y="1097280"/>
            <a:ext cx="4114800" cy="2377440"/>
          </a:xfrm>
          <a:prstGeom prst="rect">
            <a:avLst/>
          </a:prstGeom>
          <a:solidFill>
            <a:srgbClr val="FFFFFF"/>
          </a:solidFill>
          <a:ln w="10160">
            <a:solidFill>
              <a:srgbClr val="E0E8E0"/>
            </a:solidFill>
            <a:prstDash val="solid"/>
          </a:ln>
          <a:effectLst>
            <a:outerShdw sx="100000" sy="100000" kx="0" ky="0" algn="bl" rotWithShape="0" blurRad="63500" dist="25400" dir="8100000">
              <a:srgbClr val="000000">
                <a:alpha val="10000"/>
              </a:srgbClr>
            </a:outerShdw>
          </a:effectLst>
        </p:spPr>
      </p:sp>
      <p:sp>
        <p:nvSpPr>
          <p:cNvPr id="27" name="Text 25"/>
          <p:cNvSpPr/>
          <p:nvPr/>
        </p:nvSpPr>
        <p:spPr>
          <a:xfrm>
            <a:off x="4892040" y="1234440"/>
            <a:ext cx="3749040" cy="347472"/>
          </a:xfrm>
          <a:prstGeom prst="rect">
            <a:avLst/>
          </a:prstGeom>
          <a:noFill/>
          <a:ln/>
        </p:spPr>
        <p:txBody>
          <a:bodyPr wrap="square" lIns="0" tIns="0" rIns="0" bIns="0" rtlCol="0" anchor="ctr"/>
          <a:lstStyle/>
          <a:p>
            <a:pPr algn="l" indent="0" marL="0">
              <a:buNone/>
            </a:pPr>
            <a:r>
              <a:rPr lang="en-US" sz="1400" b="1" dirty="0">
                <a:solidFill>
                  <a:srgbClr val="1C3D1C"/>
                </a:solidFill>
                <a:latin typeface="Georgia" pitchFamily="34" charset="0"/>
                <a:ea typeface="Georgia" pitchFamily="34" charset="-122"/>
                <a:cs typeface="Georgia" pitchFamily="34" charset="-120"/>
              </a:rPr>
              <a:t>Hardware</a:t>
            </a:r>
            <a:endParaRPr lang="en-US" sz="1400" dirty="0"/>
          </a:p>
        </p:txBody>
      </p:sp>
      <p:sp>
        <p:nvSpPr>
          <p:cNvPr id="28" name="Text 26"/>
          <p:cNvSpPr/>
          <p:nvPr/>
        </p:nvSpPr>
        <p:spPr>
          <a:xfrm>
            <a:off x="4892040" y="1691640"/>
            <a:ext cx="219456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DHT22 sensor</a:t>
            </a:r>
            <a:endParaRPr lang="en-US" sz="1250" dirty="0"/>
          </a:p>
        </p:txBody>
      </p:sp>
      <p:sp>
        <p:nvSpPr>
          <p:cNvPr id="29" name="Text 27"/>
          <p:cNvSpPr/>
          <p:nvPr/>
        </p:nvSpPr>
        <p:spPr>
          <a:xfrm>
            <a:off x="4892040" y="1938528"/>
            <a:ext cx="3749040" cy="228600"/>
          </a:xfrm>
          <a:prstGeom prst="rect">
            <a:avLst/>
          </a:prstGeom>
          <a:noFill/>
          <a:ln/>
        </p:spPr>
        <p:txBody>
          <a:bodyPr wrap="square" lIns="0" tIns="0" rIns="0" bIns="0" rtlCol="0" anchor="ctr"/>
          <a:lstStyle/>
          <a:p>
            <a:pPr algn="l" indent="0" marL="0">
              <a:buNone/>
            </a:pPr>
            <a:r>
              <a:rPr lang="en-US" sz="1100" dirty="0">
                <a:solidFill>
                  <a:srgbClr val="546E7A"/>
                </a:solidFill>
                <a:latin typeface="Calibri" pitchFamily="34" charset="0"/>
                <a:ea typeface="Calibri" pitchFamily="34" charset="-122"/>
                <a:cs typeface="Calibri" pitchFamily="34" charset="-120"/>
              </a:rPr>
              <a:t>GPIO4 — single-wire protocol</a:t>
            </a:r>
            <a:endParaRPr lang="en-US" sz="1100" dirty="0"/>
          </a:p>
        </p:txBody>
      </p:sp>
      <p:sp>
        <p:nvSpPr>
          <p:cNvPr id="30" name="Text 28"/>
          <p:cNvSpPr/>
          <p:nvPr/>
        </p:nvSpPr>
        <p:spPr>
          <a:xfrm>
            <a:off x="4892040" y="2240280"/>
            <a:ext cx="219456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2× MG996R servo</a:t>
            </a:r>
            <a:endParaRPr lang="en-US" sz="1250" dirty="0"/>
          </a:p>
        </p:txBody>
      </p:sp>
      <p:sp>
        <p:nvSpPr>
          <p:cNvPr id="31" name="Text 29"/>
          <p:cNvSpPr/>
          <p:nvPr/>
        </p:nvSpPr>
        <p:spPr>
          <a:xfrm>
            <a:off x="4892040" y="2487168"/>
            <a:ext cx="3749040" cy="228600"/>
          </a:xfrm>
          <a:prstGeom prst="rect">
            <a:avLst/>
          </a:prstGeom>
          <a:noFill/>
          <a:ln/>
        </p:spPr>
        <p:txBody>
          <a:bodyPr wrap="square" lIns="0" tIns="0" rIns="0" bIns="0" rtlCol="0" anchor="ctr"/>
          <a:lstStyle/>
          <a:p>
            <a:pPr algn="l" indent="0" marL="0">
              <a:buNone/>
            </a:pPr>
            <a:r>
              <a:rPr lang="en-US" sz="1100" dirty="0">
                <a:solidFill>
                  <a:srgbClr val="546E7A"/>
                </a:solidFill>
                <a:latin typeface="Calibri" pitchFamily="34" charset="0"/>
                <a:ea typeface="Calibri" pitchFamily="34" charset="-122"/>
                <a:cs typeface="Calibri" pitchFamily="34" charset="-120"/>
              </a:rPr>
              <a:t>PCA9685 CH0 + CH1</a:t>
            </a:r>
            <a:endParaRPr lang="en-US" sz="1100" dirty="0"/>
          </a:p>
        </p:txBody>
      </p:sp>
      <p:sp>
        <p:nvSpPr>
          <p:cNvPr id="32" name="Text 30"/>
          <p:cNvSpPr/>
          <p:nvPr/>
        </p:nvSpPr>
        <p:spPr>
          <a:xfrm>
            <a:off x="4892040" y="2788920"/>
            <a:ext cx="219456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120mm 12V PC fan</a:t>
            </a:r>
            <a:endParaRPr lang="en-US" sz="1250" dirty="0"/>
          </a:p>
        </p:txBody>
      </p:sp>
      <p:sp>
        <p:nvSpPr>
          <p:cNvPr id="33" name="Text 31"/>
          <p:cNvSpPr/>
          <p:nvPr/>
        </p:nvSpPr>
        <p:spPr>
          <a:xfrm>
            <a:off x="4892040" y="3035808"/>
            <a:ext cx="3749040" cy="228600"/>
          </a:xfrm>
          <a:prstGeom prst="rect">
            <a:avLst/>
          </a:prstGeom>
          <a:noFill/>
          <a:ln/>
        </p:spPr>
        <p:txBody>
          <a:bodyPr wrap="square" lIns="0" tIns="0" rIns="0" bIns="0" rtlCol="0" anchor="ctr"/>
          <a:lstStyle/>
          <a:p>
            <a:pPr algn="l" indent="0" marL="0">
              <a:buNone/>
            </a:pPr>
            <a:r>
              <a:rPr lang="en-US" sz="1100" dirty="0">
                <a:solidFill>
                  <a:srgbClr val="546E7A"/>
                </a:solidFill>
                <a:latin typeface="Calibri" pitchFamily="34" charset="0"/>
                <a:ea typeface="Calibri" pitchFamily="34" charset="-122"/>
                <a:cs typeface="Calibri" pitchFamily="34" charset="-120"/>
              </a:rPr>
              <a:t>12V rail via relay on GPIO17</a:t>
            </a:r>
            <a:endParaRPr lang="en-US" sz="1100" dirty="0"/>
          </a:p>
        </p:txBody>
      </p:sp>
      <p:sp>
        <p:nvSpPr>
          <p:cNvPr id="34" name="Shape 32"/>
          <p:cNvSpPr/>
          <p:nvPr/>
        </p:nvSpPr>
        <p:spPr>
          <a:xfrm>
            <a:off x="4709160" y="3611880"/>
            <a:ext cx="4114800" cy="2971800"/>
          </a:xfrm>
          <a:prstGeom prst="rect">
            <a:avLst/>
          </a:prstGeom>
          <a:solidFill>
            <a:srgbClr val="1E2419"/>
          </a:solidFill>
          <a:ln w="12700">
            <a:solidFill>
              <a:srgbClr val="1E2419"/>
            </a:solidFill>
            <a:prstDash val="solid"/>
          </a:ln>
        </p:spPr>
      </p:sp>
      <p:sp>
        <p:nvSpPr>
          <p:cNvPr id="35" name="Text 33"/>
          <p:cNvSpPr/>
          <p:nvPr/>
        </p:nvSpPr>
        <p:spPr>
          <a:xfrm>
            <a:off x="4873752" y="3749040"/>
            <a:ext cx="3840480" cy="2743200"/>
          </a:xfrm>
          <a:prstGeom prst="rect">
            <a:avLst/>
          </a:prstGeom>
          <a:noFill/>
          <a:ln/>
        </p:spPr>
        <p:txBody>
          <a:bodyPr wrap="square" lIns="0" tIns="0" rIns="0" bIns="0" rtlCol="0" anchor="t"/>
          <a:lstStyle/>
          <a:p>
            <a:pPr algn="l" indent="0" marL="0">
              <a:buNone/>
            </a:pPr>
            <a:r>
              <a:rPr lang="en-US" sz="1150" dirty="0">
                <a:solidFill>
                  <a:srgbClr val="A5D6A7"/>
                </a:solidFill>
                <a:latin typeface="Consolas" pitchFamily="34" charset="0"/>
                <a:ea typeface="Consolas" pitchFamily="34" charset="-122"/>
                <a:cs typeface="Consolas" pitchFamily="34" charset="-120"/>
              </a:rPr>
              <a:t>if not vents_open and temp &gt;= 27:</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    set_servo(CH0, SERVOMAX)</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    set_servo(CH1, SERVOMAX)</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    vents_open = True</a:t>
            </a:r>
            <a:endParaRPr lang="en-US" sz="1150" dirty="0"/>
          </a:p>
          <a:p>
            <a:pPr algn="l" indent="0" marL="0">
              <a:buNone/>
            </a:pP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if not fan_on and temp &gt;= 30:</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    fan.on()</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    fan_on = True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B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3D1C"/>
          </a:solidFill>
          <a:ln w="12700">
            <a:solidFill>
              <a:srgbClr val="1C3D1C"/>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Automatic Chicken Door</a:t>
            </a:r>
            <a:endParaRPr lang="en-US" sz="2600" dirty="0"/>
          </a:p>
        </p:txBody>
      </p:sp>
      <p:sp>
        <p:nvSpPr>
          <p:cNvPr id="4" name="Shape 2"/>
          <p:cNvSpPr/>
          <p:nvPr/>
        </p:nvSpPr>
        <p:spPr>
          <a:xfrm>
            <a:off x="320040" y="1097280"/>
            <a:ext cx="4114800" cy="5486400"/>
          </a:xfrm>
          <a:prstGeom prst="rect">
            <a:avLst/>
          </a:prstGeom>
          <a:solidFill>
            <a:srgbClr val="FFFFFF"/>
          </a:solidFill>
          <a:ln w="10160">
            <a:solidFill>
              <a:srgbClr val="E0E8E0"/>
            </a:solidFill>
            <a:prstDash val="solid"/>
          </a:ln>
          <a:effectLst>
            <a:outerShdw sx="100000" sy="100000" kx="0" ky="0" algn="bl" rotWithShape="0" blurRad="63500" dist="25400" dir="8100000">
              <a:srgbClr val="000000">
                <a:alpha val="10000"/>
              </a:srgbClr>
            </a:outerShdw>
          </a:effectLst>
        </p:spPr>
      </p:sp>
      <p:sp>
        <p:nvSpPr>
          <p:cNvPr id="5" name="Text 3"/>
          <p:cNvSpPr/>
          <p:nvPr/>
        </p:nvSpPr>
        <p:spPr>
          <a:xfrm>
            <a:off x="502920" y="1261872"/>
            <a:ext cx="3749040" cy="384048"/>
          </a:xfrm>
          <a:prstGeom prst="rect">
            <a:avLst/>
          </a:prstGeom>
          <a:noFill/>
          <a:ln/>
        </p:spPr>
        <p:txBody>
          <a:bodyPr wrap="square" lIns="0" tIns="0" rIns="0" bIns="0" rtlCol="0" anchor="ctr"/>
          <a:lstStyle/>
          <a:p>
            <a:pPr algn="l" indent="0" marL="0">
              <a:buNone/>
            </a:pPr>
            <a:r>
              <a:rPr lang="en-US" sz="1500" b="1" dirty="0">
                <a:solidFill>
                  <a:srgbClr val="1C3D1C"/>
                </a:solidFill>
                <a:latin typeface="Georgia" pitchFamily="34" charset="0"/>
                <a:ea typeface="Georgia" pitchFamily="34" charset="-122"/>
                <a:cs typeface="Georgia" pitchFamily="34" charset="-120"/>
              </a:rPr>
              <a:t>How It Works</a:t>
            </a:r>
            <a:endParaRPr lang="en-US" sz="1500" dirty="0"/>
          </a:p>
        </p:txBody>
      </p:sp>
      <p:sp>
        <p:nvSpPr>
          <p:cNvPr id="6" name="Shape 4"/>
          <p:cNvSpPr/>
          <p:nvPr/>
        </p:nvSpPr>
        <p:spPr>
          <a:xfrm>
            <a:off x="475488" y="1819656"/>
            <a:ext cx="237744" cy="237744"/>
          </a:xfrm>
          <a:prstGeom prst="ellipse">
            <a:avLst/>
          </a:prstGeom>
          <a:solidFill>
            <a:srgbClr val="2E7D32"/>
          </a:solidFill>
          <a:ln w="12700">
            <a:solidFill>
              <a:srgbClr val="2E7D32"/>
            </a:solidFill>
            <a:prstDash val="solid"/>
          </a:ln>
        </p:spPr>
      </p:sp>
      <p:sp>
        <p:nvSpPr>
          <p:cNvPr id="7" name="Text 5"/>
          <p:cNvSpPr/>
          <p:nvPr/>
        </p:nvSpPr>
        <p:spPr>
          <a:xfrm>
            <a:off x="475488" y="181965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6"/>
          <p:cNvSpPr/>
          <p:nvPr/>
        </p:nvSpPr>
        <p:spPr>
          <a:xfrm>
            <a:off x="822960" y="1755648"/>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LDR reads light level</a:t>
            </a:r>
            <a:endParaRPr lang="en-US" sz="1250" dirty="0"/>
          </a:p>
        </p:txBody>
      </p:sp>
      <p:sp>
        <p:nvSpPr>
          <p:cNvPr id="9" name="Text 7"/>
          <p:cNvSpPr/>
          <p:nvPr/>
        </p:nvSpPr>
        <p:spPr>
          <a:xfrm>
            <a:off x="822960" y="2029968"/>
            <a:ext cx="3429000" cy="38404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Photoresistor + 10kΩ divider feeds voltage to MCP3008 channel 0</a:t>
            </a:r>
            <a:endParaRPr lang="en-US" sz="1150" dirty="0"/>
          </a:p>
        </p:txBody>
      </p:sp>
      <p:sp>
        <p:nvSpPr>
          <p:cNvPr id="10" name="Shape 8"/>
          <p:cNvSpPr/>
          <p:nvPr/>
        </p:nvSpPr>
        <p:spPr>
          <a:xfrm>
            <a:off x="475488" y="2596896"/>
            <a:ext cx="237744" cy="237744"/>
          </a:xfrm>
          <a:prstGeom prst="ellipse">
            <a:avLst/>
          </a:prstGeom>
          <a:solidFill>
            <a:srgbClr val="2E7D32"/>
          </a:solidFill>
          <a:ln w="12700">
            <a:solidFill>
              <a:srgbClr val="2E7D32"/>
            </a:solidFill>
            <a:prstDash val="solid"/>
          </a:ln>
        </p:spPr>
      </p:sp>
      <p:sp>
        <p:nvSpPr>
          <p:cNvPr id="11" name="Text 9"/>
          <p:cNvSpPr/>
          <p:nvPr/>
        </p:nvSpPr>
        <p:spPr>
          <a:xfrm>
            <a:off x="475488" y="259689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2" name="Text 10"/>
          <p:cNvSpPr/>
          <p:nvPr/>
        </p:nvSpPr>
        <p:spPr>
          <a:xfrm>
            <a:off x="822960" y="2532888"/>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Dawn detection</a:t>
            </a:r>
            <a:endParaRPr lang="en-US" sz="1250" dirty="0"/>
          </a:p>
        </p:txBody>
      </p:sp>
      <p:sp>
        <p:nvSpPr>
          <p:cNvPr id="13" name="Text 11"/>
          <p:cNvSpPr/>
          <p:nvPr/>
        </p:nvSpPr>
        <p:spPr>
          <a:xfrm>
            <a:off x="822960" y="2807208"/>
            <a:ext cx="3429000" cy="38404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When light reads above 0.60 (bright) the door should open</a:t>
            </a:r>
            <a:endParaRPr lang="en-US" sz="1150" dirty="0"/>
          </a:p>
        </p:txBody>
      </p:sp>
      <p:sp>
        <p:nvSpPr>
          <p:cNvPr id="14" name="Shape 12"/>
          <p:cNvSpPr/>
          <p:nvPr/>
        </p:nvSpPr>
        <p:spPr>
          <a:xfrm>
            <a:off x="475488" y="3374136"/>
            <a:ext cx="237744" cy="237744"/>
          </a:xfrm>
          <a:prstGeom prst="ellipse">
            <a:avLst/>
          </a:prstGeom>
          <a:solidFill>
            <a:srgbClr val="2E7D32"/>
          </a:solidFill>
          <a:ln w="12700">
            <a:solidFill>
              <a:srgbClr val="2E7D32"/>
            </a:solidFill>
            <a:prstDash val="solid"/>
          </a:ln>
        </p:spPr>
      </p:sp>
      <p:sp>
        <p:nvSpPr>
          <p:cNvPr id="15" name="Text 13"/>
          <p:cNvSpPr/>
          <p:nvPr/>
        </p:nvSpPr>
        <p:spPr>
          <a:xfrm>
            <a:off x="475488" y="337413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6" name="Text 14"/>
          <p:cNvSpPr/>
          <p:nvPr/>
        </p:nvSpPr>
        <p:spPr>
          <a:xfrm>
            <a:off x="822960" y="3310128"/>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Dusk detection</a:t>
            </a:r>
            <a:endParaRPr lang="en-US" sz="1250" dirty="0"/>
          </a:p>
        </p:txBody>
      </p:sp>
      <p:sp>
        <p:nvSpPr>
          <p:cNvPr id="17" name="Text 15"/>
          <p:cNvSpPr/>
          <p:nvPr/>
        </p:nvSpPr>
        <p:spPr>
          <a:xfrm>
            <a:off x="822960" y="3584448"/>
            <a:ext cx="3429000" cy="38404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When light reads below 0.30 (dark) AND it's after 8pm</a:t>
            </a:r>
            <a:endParaRPr lang="en-US" sz="1150" dirty="0"/>
          </a:p>
        </p:txBody>
      </p:sp>
      <p:sp>
        <p:nvSpPr>
          <p:cNvPr id="18" name="Shape 16"/>
          <p:cNvSpPr/>
          <p:nvPr/>
        </p:nvSpPr>
        <p:spPr>
          <a:xfrm>
            <a:off x="475488" y="4151376"/>
            <a:ext cx="237744" cy="237744"/>
          </a:xfrm>
          <a:prstGeom prst="ellipse">
            <a:avLst/>
          </a:prstGeom>
          <a:solidFill>
            <a:srgbClr val="2E7D32"/>
          </a:solidFill>
          <a:ln w="12700">
            <a:solidFill>
              <a:srgbClr val="2E7D32"/>
            </a:solidFill>
            <a:prstDash val="solid"/>
          </a:ln>
        </p:spPr>
      </p:sp>
      <p:sp>
        <p:nvSpPr>
          <p:cNvPr id="19" name="Text 17"/>
          <p:cNvSpPr/>
          <p:nvPr/>
        </p:nvSpPr>
        <p:spPr>
          <a:xfrm>
            <a:off x="475488" y="415137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0" name="Text 18"/>
          <p:cNvSpPr/>
          <p:nvPr/>
        </p:nvSpPr>
        <p:spPr>
          <a:xfrm>
            <a:off x="822960" y="4087368"/>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Clock backup</a:t>
            </a:r>
            <a:endParaRPr lang="en-US" sz="1250" dirty="0"/>
          </a:p>
        </p:txBody>
      </p:sp>
      <p:sp>
        <p:nvSpPr>
          <p:cNvPr id="21" name="Text 19"/>
          <p:cNvSpPr/>
          <p:nvPr/>
        </p:nvSpPr>
        <p:spPr>
          <a:xfrm>
            <a:off x="822960" y="4361688"/>
            <a:ext cx="3429000" cy="38404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On overcast days the LDR may not trigger — door forces open by 9am</a:t>
            </a:r>
            <a:endParaRPr lang="en-US" sz="1150" dirty="0"/>
          </a:p>
        </p:txBody>
      </p:sp>
      <p:sp>
        <p:nvSpPr>
          <p:cNvPr id="22" name="Shape 20"/>
          <p:cNvSpPr/>
          <p:nvPr/>
        </p:nvSpPr>
        <p:spPr>
          <a:xfrm>
            <a:off x="475488" y="4928616"/>
            <a:ext cx="237744" cy="237744"/>
          </a:xfrm>
          <a:prstGeom prst="ellipse">
            <a:avLst/>
          </a:prstGeom>
          <a:solidFill>
            <a:srgbClr val="2E7D32"/>
          </a:solidFill>
          <a:ln w="12700">
            <a:solidFill>
              <a:srgbClr val="2E7D32"/>
            </a:solidFill>
            <a:prstDash val="solid"/>
          </a:ln>
        </p:spPr>
      </p:sp>
      <p:sp>
        <p:nvSpPr>
          <p:cNvPr id="23" name="Text 21"/>
          <p:cNvSpPr/>
          <p:nvPr/>
        </p:nvSpPr>
        <p:spPr>
          <a:xfrm>
            <a:off x="475488" y="492861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22960" y="4864608"/>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Linear actuator</a:t>
            </a:r>
            <a:endParaRPr lang="en-US" sz="1250" dirty="0"/>
          </a:p>
        </p:txBody>
      </p:sp>
      <p:sp>
        <p:nvSpPr>
          <p:cNvPr id="25" name="Text 23"/>
          <p:cNvSpPr/>
          <p:nvPr/>
        </p:nvSpPr>
        <p:spPr>
          <a:xfrm>
            <a:off x="822960" y="5138928"/>
            <a:ext cx="3429000" cy="38404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L298N H-bridge drives actuator forward (open) or backward (close)</a:t>
            </a:r>
            <a:endParaRPr lang="en-US" sz="1150" dirty="0"/>
          </a:p>
        </p:txBody>
      </p:sp>
      <p:sp>
        <p:nvSpPr>
          <p:cNvPr id="26" name="Shape 24"/>
          <p:cNvSpPr/>
          <p:nvPr/>
        </p:nvSpPr>
        <p:spPr>
          <a:xfrm>
            <a:off x="475488" y="5705856"/>
            <a:ext cx="237744" cy="237744"/>
          </a:xfrm>
          <a:prstGeom prst="ellipse">
            <a:avLst/>
          </a:prstGeom>
          <a:solidFill>
            <a:srgbClr val="2E7D32"/>
          </a:solidFill>
          <a:ln w="12700">
            <a:solidFill>
              <a:srgbClr val="2E7D32"/>
            </a:solidFill>
            <a:prstDash val="solid"/>
          </a:ln>
        </p:spPr>
      </p:sp>
      <p:sp>
        <p:nvSpPr>
          <p:cNvPr id="27" name="Text 25"/>
          <p:cNvSpPr/>
          <p:nvPr/>
        </p:nvSpPr>
        <p:spPr>
          <a:xfrm>
            <a:off x="475488" y="570585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8" name="Text 26"/>
          <p:cNvSpPr/>
          <p:nvPr/>
        </p:nvSpPr>
        <p:spPr>
          <a:xfrm>
            <a:off x="822960" y="5641848"/>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Limit switches</a:t>
            </a:r>
            <a:endParaRPr lang="en-US" sz="1250" dirty="0"/>
          </a:p>
        </p:txBody>
      </p:sp>
      <p:sp>
        <p:nvSpPr>
          <p:cNvPr id="29" name="Text 27"/>
          <p:cNvSpPr/>
          <p:nvPr/>
        </p:nvSpPr>
        <p:spPr>
          <a:xfrm>
            <a:off x="822960" y="5916168"/>
            <a:ext cx="3429000" cy="38404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Two micro switches stop the motor when the door reaches each end</a:t>
            </a:r>
            <a:endParaRPr lang="en-US" sz="1150" dirty="0"/>
          </a:p>
        </p:txBody>
      </p:sp>
      <p:sp>
        <p:nvSpPr>
          <p:cNvPr id="30" name="Shape 28"/>
          <p:cNvSpPr/>
          <p:nvPr/>
        </p:nvSpPr>
        <p:spPr>
          <a:xfrm>
            <a:off x="4709160" y="1097280"/>
            <a:ext cx="4114800" cy="2377440"/>
          </a:xfrm>
          <a:prstGeom prst="rect">
            <a:avLst/>
          </a:prstGeom>
          <a:solidFill>
            <a:srgbClr val="FFFFFF"/>
          </a:solidFill>
          <a:ln w="10160">
            <a:solidFill>
              <a:srgbClr val="E0E8E0"/>
            </a:solidFill>
            <a:prstDash val="solid"/>
          </a:ln>
          <a:effectLst>
            <a:outerShdw sx="100000" sy="100000" kx="0" ky="0" algn="bl" rotWithShape="0" blurRad="63500" dist="25400" dir="8100000">
              <a:srgbClr val="000000">
                <a:alpha val="10000"/>
              </a:srgbClr>
            </a:outerShdw>
          </a:effectLst>
        </p:spPr>
      </p:sp>
      <p:sp>
        <p:nvSpPr>
          <p:cNvPr id="31" name="Text 29"/>
          <p:cNvSpPr/>
          <p:nvPr/>
        </p:nvSpPr>
        <p:spPr>
          <a:xfrm>
            <a:off x="4892040" y="1234440"/>
            <a:ext cx="3749040" cy="347472"/>
          </a:xfrm>
          <a:prstGeom prst="rect">
            <a:avLst/>
          </a:prstGeom>
          <a:noFill/>
          <a:ln/>
        </p:spPr>
        <p:txBody>
          <a:bodyPr wrap="square" lIns="0" tIns="0" rIns="0" bIns="0" rtlCol="0" anchor="ctr"/>
          <a:lstStyle/>
          <a:p>
            <a:pPr algn="l" indent="0" marL="0">
              <a:buNone/>
            </a:pPr>
            <a:r>
              <a:rPr lang="en-US" sz="1400" b="1" dirty="0">
                <a:solidFill>
                  <a:srgbClr val="1C3D1C"/>
                </a:solidFill>
                <a:latin typeface="Georgia" pitchFamily="34" charset="0"/>
                <a:ea typeface="Georgia" pitchFamily="34" charset="-122"/>
                <a:cs typeface="Georgia" pitchFamily="34" charset="-120"/>
              </a:rPr>
              <a:t>Hardware</a:t>
            </a:r>
            <a:endParaRPr lang="en-US" sz="1400" dirty="0"/>
          </a:p>
        </p:txBody>
      </p:sp>
      <p:sp>
        <p:nvSpPr>
          <p:cNvPr id="32" name="Text 30"/>
          <p:cNvSpPr/>
          <p:nvPr/>
        </p:nvSpPr>
        <p:spPr>
          <a:xfrm>
            <a:off x="4892040" y="1664208"/>
            <a:ext cx="3749040" cy="237744"/>
          </a:xfrm>
          <a:prstGeom prst="rect">
            <a:avLst/>
          </a:prstGeom>
          <a:noFill/>
          <a:ln/>
        </p:spPr>
        <p:txBody>
          <a:bodyPr wrap="square" lIns="0" tIns="0" rIns="0" bIns="0" rtlCol="0" anchor="ctr"/>
          <a:lstStyle/>
          <a:p>
            <a:pPr algn="l" indent="0" marL="0">
              <a:buNone/>
            </a:pPr>
            <a:r>
              <a:rPr lang="en-US" sz="1200" b="1" dirty="0">
                <a:solidFill>
                  <a:srgbClr val="1A1A1A"/>
                </a:solidFill>
                <a:latin typeface="Calibri" pitchFamily="34" charset="0"/>
                <a:ea typeface="Calibri" pitchFamily="34" charset="-122"/>
                <a:cs typeface="Calibri" pitchFamily="34" charset="-120"/>
              </a:rPr>
              <a:t>LDR + 10kΩ resistor</a:t>
            </a:r>
            <a:endParaRPr lang="en-US" sz="1200" dirty="0"/>
          </a:p>
        </p:txBody>
      </p:sp>
      <p:sp>
        <p:nvSpPr>
          <p:cNvPr id="33" name="Text 31"/>
          <p:cNvSpPr/>
          <p:nvPr/>
        </p:nvSpPr>
        <p:spPr>
          <a:xfrm>
            <a:off x="4892040" y="1883664"/>
            <a:ext cx="3749040" cy="201168"/>
          </a:xfrm>
          <a:prstGeom prst="rect">
            <a:avLst/>
          </a:prstGeom>
          <a:noFill/>
          <a:ln/>
        </p:spPr>
        <p:txBody>
          <a:bodyPr wrap="square" lIns="0" tIns="0" rIns="0" bIns="0" rtlCol="0" anchor="ctr"/>
          <a:lstStyle/>
          <a:p>
            <a:pPr algn="l" indent="0" marL="0">
              <a:buNone/>
            </a:pPr>
            <a:r>
              <a:rPr lang="en-US" sz="1100" dirty="0">
                <a:solidFill>
                  <a:srgbClr val="546E7A"/>
                </a:solidFill>
                <a:latin typeface="Calibri" pitchFamily="34" charset="0"/>
                <a:ea typeface="Calibri" pitchFamily="34" charset="-122"/>
                <a:cs typeface="Calibri" pitchFamily="34" charset="-120"/>
              </a:rPr>
              <a:t>Voltage divider → MCP3008 CH0</a:t>
            </a:r>
            <a:endParaRPr lang="en-US" sz="1100" dirty="0"/>
          </a:p>
        </p:txBody>
      </p:sp>
      <p:sp>
        <p:nvSpPr>
          <p:cNvPr id="34" name="Text 32"/>
          <p:cNvSpPr/>
          <p:nvPr/>
        </p:nvSpPr>
        <p:spPr>
          <a:xfrm>
            <a:off x="4892040" y="2103120"/>
            <a:ext cx="3749040" cy="237744"/>
          </a:xfrm>
          <a:prstGeom prst="rect">
            <a:avLst/>
          </a:prstGeom>
          <a:noFill/>
          <a:ln/>
        </p:spPr>
        <p:txBody>
          <a:bodyPr wrap="square" lIns="0" tIns="0" rIns="0" bIns="0" rtlCol="0" anchor="ctr"/>
          <a:lstStyle/>
          <a:p>
            <a:pPr algn="l" indent="0" marL="0">
              <a:buNone/>
            </a:pPr>
            <a:r>
              <a:rPr lang="en-US" sz="1200" b="1" dirty="0">
                <a:solidFill>
                  <a:srgbClr val="1A1A1A"/>
                </a:solidFill>
                <a:latin typeface="Calibri" pitchFamily="34" charset="0"/>
                <a:ea typeface="Calibri" pitchFamily="34" charset="-122"/>
                <a:cs typeface="Calibri" pitchFamily="34" charset="-120"/>
              </a:rPr>
              <a:t>12V linear actuator</a:t>
            </a:r>
            <a:endParaRPr lang="en-US" sz="1200" dirty="0"/>
          </a:p>
        </p:txBody>
      </p:sp>
      <p:sp>
        <p:nvSpPr>
          <p:cNvPr id="35" name="Text 33"/>
          <p:cNvSpPr/>
          <p:nvPr/>
        </p:nvSpPr>
        <p:spPr>
          <a:xfrm>
            <a:off x="4892040" y="2322576"/>
            <a:ext cx="3749040" cy="201168"/>
          </a:xfrm>
          <a:prstGeom prst="rect">
            <a:avLst/>
          </a:prstGeom>
          <a:noFill/>
          <a:ln/>
        </p:spPr>
        <p:txBody>
          <a:bodyPr wrap="square" lIns="0" tIns="0" rIns="0" bIns="0" rtlCol="0" anchor="ctr"/>
          <a:lstStyle/>
          <a:p>
            <a:pPr algn="l" indent="0" marL="0">
              <a:buNone/>
            </a:pPr>
            <a:r>
              <a:rPr lang="en-US" sz="1100" dirty="0">
                <a:solidFill>
                  <a:srgbClr val="546E7A"/>
                </a:solidFill>
                <a:latin typeface="Calibri" pitchFamily="34" charset="0"/>
                <a:ea typeface="Calibri" pitchFamily="34" charset="-122"/>
                <a:cs typeface="Calibri" pitchFamily="34" charset="-120"/>
              </a:rPr>
              <a:t>4-6" stroke, 50-100N, self-locking</a:t>
            </a:r>
            <a:endParaRPr lang="en-US" sz="1100" dirty="0"/>
          </a:p>
        </p:txBody>
      </p:sp>
      <p:sp>
        <p:nvSpPr>
          <p:cNvPr id="36" name="Text 34"/>
          <p:cNvSpPr/>
          <p:nvPr/>
        </p:nvSpPr>
        <p:spPr>
          <a:xfrm>
            <a:off x="4892040" y="2542032"/>
            <a:ext cx="3749040" cy="237744"/>
          </a:xfrm>
          <a:prstGeom prst="rect">
            <a:avLst/>
          </a:prstGeom>
          <a:noFill/>
          <a:ln/>
        </p:spPr>
        <p:txBody>
          <a:bodyPr wrap="square" lIns="0" tIns="0" rIns="0" bIns="0" rtlCol="0" anchor="ctr"/>
          <a:lstStyle/>
          <a:p>
            <a:pPr algn="l" indent="0" marL="0">
              <a:buNone/>
            </a:pPr>
            <a:r>
              <a:rPr lang="en-US" sz="1200" b="1" dirty="0">
                <a:solidFill>
                  <a:srgbClr val="1A1A1A"/>
                </a:solidFill>
                <a:latin typeface="Calibri" pitchFamily="34" charset="0"/>
                <a:ea typeface="Calibri" pitchFamily="34" charset="-122"/>
                <a:cs typeface="Calibri" pitchFamily="34" charset="-120"/>
              </a:rPr>
              <a:t>L298N H-bridge driver</a:t>
            </a:r>
            <a:endParaRPr lang="en-US" sz="1200" dirty="0"/>
          </a:p>
        </p:txBody>
      </p:sp>
      <p:sp>
        <p:nvSpPr>
          <p:cNvPr id="37" name="Text 35"/>
          <p:cNvSpPr/>
          <p:nvPr/>
        </p:nvSpPr>
        <p:spPr>
          <a:xfrm>
            <a:off x="4892040" y="2761488"/>
            <a:ext cx="3749040" cy="201168"/>
          </a:xfrm>
          <a:prstGeom prst="rect">
            <a:avLst/>
          </a:prstGeom>
          <a:noFill/>
          <a:ln/>
        </p:spPr>
        <p:txBody>
          <a:bodyPr wrap="square" lIns="0" tIns="0" rIns="0" bIns="0" rtlCol="0" anchor="ctr"/>
          <a:lstStyle/>
          <a:p>
            <a:pPr algn="l" indent="0" marL="0">
              <a:buNone/>
            </a:pPr>
            <a:r>
              <a:rPr lang="en-US" sz="1100" dirty="0">
                <a:solidFill>
                  <a:srgbClr val="546E7A"/>
                </a:solidFill>
                <a:latin typeface="Calibri" pitchFamily="34" charset="0"/>
                <a:ea typeface="Calibri" pitchFamily="34" charset="-122"/>
                <a:cs typeface="Calibri" pitchFamily="34" charset="-120"/>
              </a:rPr>
              <a:t>GPIO5 IN1, GPIO6 IN2</a:t>
            </a:r>
            <a:endParaRPr lang="en-US" sz="1100" dirty="0"/>
          </a:p>
        </p:txBody>
      </p:sp>
      <p:sp>
        <p:nvSpPr>
          <p:cNvPr id="38" name="Text 36"/>
          <p:cNvSpPr/>
          <p:nvPr/>
        </p:nvSpPr>
        <p:spPr>
          <a:xfrm>
            <a:off x="4892040" y="2980944"/>
            <a:ext cx="3749040" cy="237744"/>
          </a:xfrm>
          <a:prstGeom prst="rect">
            <a:avLst/>
          </a:prstGeom>
          <a:noFill/>
          <a:ln/>
        </p:spPr>
        <p:txBody>
          <a:bodyPr wrap="square" lIns="0" tIns="0" rIns="0" bIns="0" rtlCol="0" anchor="ctr"/>
          <a:lstStyle/>
          <a:p>
            <a:pPr algn="l" indent="0" marL="0">
              <a:buNone/>
            </a:pPr>
            <a:r>
              <a:rPr lang="en-US" sz="1200" b="1" dirty="0">
                <a:solidFill>
                  <a:srgbClr val="1A1A1A"/>
                </a:solidFill>
                <a:latin typeface="Calibri" pitchFamily="34" charset="0"/>
                <a:ea typeface="Calibri" pitchFamily="34" charset="-122"/>
                <a:cs typeface="Calibri" pitchFamily="34" charset="-120"/>
              </a:rPr>
              <a:t>2× micro limit switch</a:t>
            </a:r>
            <a:endParaRPr lang="en-US" sz="1200" dirty="0"/>
          </a:p>
        </p:txBody>
      </p:sp>
      <p:sp>
        <p:nvSpPr>
          <p:cNvPr id="39" name="Text 37"/>
          <p:cNvSpPr/>
          <p:nvPr/>
        </p:nvSpPr>
        <p:spPr>
          <a:xfrm>
            <a:off x="4892040" y="3200400"/>
            <a:ext cx="3749040" cy="201168"/>
          </a:xfrm>
          <a:prstGeom prst="rect">
            <a:avLst/>
          </a:prstGeom>
          <a:noFill/>
          <a:ln/>
        </p:spPr>
        <p:txBody>
          <a:bodyPr wrap="square" lIns="0" tIns="0" rIns="0" bIns="0" rtlCol="0" anchor="ctr"/>
          <a:lstStyle/>
          <a:p>
            <a:pPr algn="l" indent="0" marL="0">
              <a:buNone/>
            </a:pPr>
            <a:r>
              <a:rPr lang="en-US" sz="1100" dirty="0">
                <a:solidFill>
                  <a:srgbClr val="546E7A"/>
                </a:solidFill>
                <a:latin typeface="Calibri" pitchFamily="34" charset="0"/>
                <a:ea typeface="Calibri" pitchFamily="34" charset="-122"/>
                <a:cs typeface="Calibri" pitchFamily="34" charset="-120"/>
              </a:rPr>
              <a:t>GPIO16 (open end), GPIO20 (closed end)</a:t>
            </a:r>
            <a:endParaRPr lang="en-US" sz="1100" dirty="0"/>
          </a:p>
        </p:txBody>
      </p:sp>
      <p:sp>
        <p:nvSpPr>
          <p:cNvPr id="40" name="Shape 38"/>
          <p:cNvSpPr/>
          <p:nvPr/>
        </p:nvSpPr>
        <p:spPr>
          <a:xfrm>
            <a:off x="4709160" y="3611880"/>
            <a:ext cx="4114800" cy="2971800"/>
          </a:xfrm>
          <a:prstGeom prst="rect">
            <a:avLst/>
          </a:prstGeom>
          <a:solidFill>
            <a:srgbClr val="1E2419"/>
          </a:solidFill>
          <a:ln w="12700">
            <a:solidFill>
              <a:srgbClr val="1E2419"/>
            </a:solidFill>
            <a:prstDash val="solid"/>
          </a:ln>
        </p:spPr>
      </p:sp>
      <p:sp>
        <p:nvSpPr>
          <p:cNvPr id="41" name="Text 39"/>
          <p:cNvSpPr/>
          <p:nvPr/>
        </p:nvSpPr>
        <p:spPr>
          <a:xfrm>
            <a:off x="4873752" y="3749040"/>
            <a:ext cx="3840480" cy="2743200"/>
          </a:xfrm>
          <a:prstGeom prst="rect">
            <a:avLst/>
          </a:prstGeom>
          <a:noFill/>
          <a:ln/>
        </p:spPr>
        <p:txBody>
          <a:bodyPr wrap="square" lIns="0" tIns="0" rIns="0" bIns="0" rtlCol="0" anchor="t"/>
          <a:lstStyle/>
          <a:p>
            <a:pPr algn="l" indent="0" marL="0">
              <a:buNone/>
            </a:pPr>
            <a:r>
              <a:rPr lang="en-US" sz="1150" dirty="0">
                <a:solidFill>
                  <a:srgbClr val="A5D6A7"/>
                </a:solidFill>
                <a:latin typeface="Consolas" pitchFamily="34" charset="0"/>
                <a:ea typeface="Consolas" pitchFamily="34" charset="-122"/>
                <a:cs typeface="Consolas" pitchFamily="34" charset="-120"/>
              </a:rPr>
              <a:t>light = ldr.value  # 0.0-1.0</a:t>
            </a:r>
            <a:endParaRPr lang="en-US" sz="1150" dirty="0"/>
          </a:p>
          <a:p>
            <a:pPr algn="l" indent="0" marL="0">
              <a:buNone/>
            </a:pP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is_dawn = (light &gt;= 0.60 or</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           hour &gt;= 9)</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is_dusk = (light &lt;= 0.30 and</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           hour &gt;= 20)</a:t>
            </a:r>
            <a:endParaRPr lang="en-US" sz="1150" dirty="0"/>
          </a:p>
          <a:p>
            <a:pPr algn="l" indent="0" marL="0">
              <a:buNone/>
            </a:pP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if is_dawn: open_door()</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if is_dusk: close_door()</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B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3D1C"/>
          </a:solidFill>
          <a:ln w="12700">
            <a:solidFill>
              <a:srgbClr val="1C3D1C"/>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Water Level Monitor</a:t>
            </a:r>
            <a:endParaRPr lang="en-US" sz="2600" dirty="0"/>
          </a:p>
        </p:txBody>
      </p:sp>
      <p:sp>
        <p:nvSpPr>
          <p:cNvPr id="4" name="Shape 2"/>
          <p:cNvSpPr/>
          <p:nvPr/>
        </p:nvSpPr>
        <p:spPr>
          <a:xfrm>
            <a:off x="320040" y="1097280"/>
            <a:ext cx="4114800" cy="5486400"/>
          </a:xfrm>
          <a:prstGeom prst="rect">
            <a:avLst/>
          </a:prstGeom>
          <a:solidFill>
            <a:srgbClr val="FFFFFF"/>
          </a:solidFill>
          <a:ln w="10160">
            <a:solidFill>
              <a:srgbClr val="E0E8E0"/>
            </a:solidFill>
            <a:prstDash val="solid"/>
          </a:ln>
          <a:effectLst>
            <a:outerShdw sx="100000" sy="100000" kx="0" ky="0" algn="bl" rotWithShape="0" blurRad="63500" dist="25400" dir="8100000">
              <a:srgbClr val="000000">
                <a:alpha val="10000"/>
              </a:srgbClr>
            </a:outerShdw>
          </a:effectLst>
        </p:spPr>
      </p:sp>
      <p:sp>
        <p:nvSpPr>
          <p:cNvPr id="5" name="Text 3"/>
          <p:cNvSpPr/>
          <p:nvPr/>
        </p:nvSpPr>
        <p:spPr>
          <a:xfrm>
            <a:off x="502920" y="1261872"/>
            <a:ext cx="3749040" cy="384048"/>
          </a:xfrm>
          <a:prstGeom prst="rect">
            <a:avLst/>
          </a:prstGeom>
          <a:noFill/>
          <a:ln/>
        </p:spPr>
        <p:txBody>
          <a:bodyPr wrap="square" lIns="0" tIns="0" rIns="0" bIns="0" rtlCol="0" anchor="ctr"/>
          <a:lstStyle/>
          <a:p>
            <a:pPr algn="l" indent="0" marL="0">
              <a:buNone/>
            </a:pPr>
            <a:r>
              <a:rPr lang="en-US" sz="1500" b="1" dirty="0">
                <a:solidFill>
                  <a:srgbClr val="1C3D1C"/>
                </a:solidFill>
                <a:latin typeface="Georgia" pitchFamily="34" charset="0"/>
                <a:ea typeface="Georgia" pitchFamily="34" charset="-122"/>
                <a:cs typeface="Georgia" pitchFamily="34" charset="-120"/>
              </a:rPr>
              <a:t>How It Works</a:t>
            </a:r>
            <a:endParaRPr lang="en-US" sz="1500" dirty="0"/>
          </a:p>
        </p:txBody>
      </p:sp>
      <p:sp>
        <p:nvSpPr>
          <p:cNvPr id="6" name="Shape 4"/>
          <p:cNvSpPr/>
          <p:nvPr/>
        </p:nvSpPr>
        <p:spPr>
          <a:xfrm>
            <a:off x="475488" y="1810512"/>
            <a:ext cx="237744" cy="237744"/>
          </a:xfrm>
          <a:prstGeom prst="ellipse">
            <a:avLst/>
          </a:prstGeom>
          <a:solidFill>
            <a:srgbClr val="0277BD"/>
          </a:solidFill>
          <a:ln w="12700">
            <a:solidFill>
              <a:srgbClr val="0277BD"/>
            </a:solidFill>
            <a:prstDash val="solid"/>
          </a:ln>
        </p:spPr>
      </p:sp>
      <p:sp>
        <p:nvSpPr>
          <p:cNvPr id="7" name="Text 5"/>
          <p:cNvSpPr/>
          <p:nvPr/>
        </p:nvSpPr>
        <p:spPr>
          <a:xfrm>
            <a:off x="475488" y="181051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6"/>
          <p:cNvSpPr/>
          <p:nvPr/>
        </p:nvSpPr>
        <p:spPr>
          <a:xfrm>
            <a:off x="822960" y="1755648"/>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3 float switches mounted vertically</a:t>
            </a:r>
            <a:endParaRPr lang="en-US" sz="1250" dirty="0"/>
          </a:p>
        </p:txBody>
      </p:sp>
      <p:sp>
        <p:nvSpPr>
          <p:cNvPr id="9" name="Text 7"/>
          <p:cNvSpPr/>
          <p:nvPr/>
        </p:nvSpPr>
        <p:spPr>
          <a:xfrm>
            <a:off x="822960" y="2029968"/>
            <a:ext cx="3429000" cy="38404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One at Low, one at Mid, one at Full height inside the water container</a:t>
            </a:r>
            <a:endParaRPr lang="en-US" sz="1150" dirty="0"/>
          </a:p>
        </p:txBody>
      </p:sp>
      <p:sp>
        <p:nvSpPr>
          <p:cNvPr id="10" name="Shape 8"/>
          <p:cNvSpPr/>
          <p:nvPr/>
        </p:nvSpPr>
        <p:spPr>
          <a:xfrm>
            <a:off x="475488" y="2569464"/>
            <a:ext cx="237744" cy="237744"/>
          </a:xfrm>
          <a:prstGeom prst="ellipse">
            <a:avLst/>
          </a:prstGeom>
          <a:solidFill>
            <a:srgbClr val="0277BD"/>
          </a:solidFill>
          <a:ln w="12700">
            <a:solidFill>
              <a:srgbClr val="0277BD"/>
            </a:solidFill>
            <a:prstDash val="solid"/>
          </a:ln>
        </p:spPr>
      </p:sp>
      <p:sp>
        <p:nvSpPr>
          <p:cNvPr id="11" name="Text 9"/>
          <p:cNvSpPr/>
          <p:nvPr/>
        </p:nvSpPr>
        <p:spPr>
          <a:xfrm>
            <a:off x="475488" y="2569464"/>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2" name="Text 10"/>
          <p:cNvSpPr/>
          <p:nvPr/>
        </p:nvSpPr>
        <p:spPr>
          <a:xfrm>
            <a:off x="822960" y="2514600"/>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Float rises with water level</a:t>
            </a:r>
            <a:endParaRPr lang="en-US" sz="1250" dirty="0"/>
          </a:p>
        </p:txBody>
      </p:sp>
      <p:sp>
        <p:nvSpPr>
          <p:cNvPr id="13" name="Text 11"/>
          <p:cNvSpPr/>
          <p:nvPr/>
        </p:nvSpPr>
        <p:spPr>
          <a:xfrm>
            <a:off x="822960" y="2788920"/>
            <a:ext cx="3429000" cy="38404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When water reaches a switch, the float lifts and closes the circuit</a:t>
            </a:r>
            <a:endParaRPr lang="en-US" sz="1150" dirty="0"/>
          </a:p>
        </p:txBody>
      </p:sp>
      <p:sp>
        <p:nvSpPr>
          <p:cNvPr id="14" name="Shape 12"/>
          <p:cNvSpPr/>
          <p:nvPr/>
        </p:nvSpPr>
        <p:spPr>
          <a:xfrm>
            <a:off x="475488" y="3328416"/>
            <a:ext cx="237744" cy="237744"/>
          </a:xfrm>
          <a:prstGeom prst="ellipse">
            <a:avLst/>
          </a:prstGeom>
          <a:solidFill>
            <a:srgbClr val="0277BD"/>
          </a:solidFill>
          <a:ln w="12700">
            <a:solidFill>
              <a:srgbClr val="0277BD"/>
            </a:solidFill>
            <a:prstDash val="solid"/>
          </a:ln>
        </p:spPr>
      </p:sp>
      <p:sp>
        <p:nvSpPr>
          <p:cNvPr id="15" name="Text 13"/>
          <p:cNvSpPr/>
          <p:nvPr/>
        </p:nvSpPr>
        <p:spPr>
          <a:xfrm>
            <a:off x="475488" y="332841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6" name="Text 14"/>
          <p:cNvSpPr/>
          <p:nvPr/>
        </p:nvSpPr>
        <p:spPr>
          <a:xfrm>
            <a:off x="822960" y="3273552"/>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Pi reads each switch</a:t>
            </a:r>
            <a:endParaRPr lang="en-US" sz="1250" dirty="0"/>
          </a:p>
        </p:txBody>
      </p:sp>
      <p:sp>
        <p:nvSpPr>
          <p:cNvPr id="17" name="Text 15"/>
          <p:cNvSpPr/>
          <p:nvPr/>
        </p:nvSpPr>
        <p:spPr>
          <a:xfrm>
            <a:off x="822960" y="3547872"/>
            <a:ext cx="3429000" cy="38404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The highest active switch determines which LED lights up</a:t>
            </a:r>
            <a:endParaRPr lang="en-US" sz="1150" dirty="0"/>
          </a:p>
        </p:txBody>
      </p:sp>
      <p:sp>
        <p:nvSpPr>
          <p:cNvPr id="18" name="Shape 16"/>
          <p:cNvSpPr/>
          <p:nvPr/>
        </p:nvSpPr>
        <p:spPr>
          <a:xfrm>
            <a:off x="475488" y="4087368"/>
            <a:ext cx="237744" cy="237744"/>
          </a:xfrm>
          <a:prstGeom prst="ellipse">
            <a:avLst/>
          </a:prstGeom>
          <a:solidFill>
            <a:srgbClr val="0277BD"/>
          </a:solidFill>
          <a:ln w="12700">
            <a:solidFill>
              <a:srgbClr val="0277BD"/>
            </a:solidFill>
            <a:prstDash val="solid"/>
          </a:ln>
        </p:spPr>
      </p:sp>
      <p:sp>
        <p:nvSpPr>
          <p:cNvPr id="19" name="Text 17"/>
          <p:cNvSpPr/>
          <p:nvPr/>
        </p:nvSpPr>
        <p:spPr>
          <a:xfrm>
            <a:off x="475488" y="408736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0" name="Text 18"/>
          <p:cNvSpPr/>
          <p:nvPr/>
        </p:nvSpPr>
        <p:spPr>
          <a:xfrm>
            <a:off x="822960" y="4032504"/>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Green = Full</a:t>
            </a:r>
            <a:endParaRPr lang="en-US" sz="1250" dirty="0"/>
          </a:p>
        </p:txBody>
      </p:sp>
      <p:sp>
        <p:nvSpPr>
          <p:cNvPr id="21" name="Text 19"/>
          <p:cNvSpPr/>
          <p:nvPr/>
        </p:nvSpPr>
        <p:spPr>
          <a:xfrm>
            <a:off x="822960" y="4306824"/>
            <a:ext cx="3429000" cy="38404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All three switches active</a:t>
            </a:r>
            <a:endParaRPr lang="en-US" sz="1150" dirty="0"/>
          </a:p>
        </p:txBody>
      </p:sp>
      <p:sp>
        <p:nvSpPr>
          <p:cNvPr id="22" name="Shape 20"/>
          <p:cNvSpPr/>
          <p:nvPr/>
        </p:nvSpPr>
        <p:spPr>
          <a:xfrm>
            <a:off x="475488" y="4846320"/>
            <a:ext cx="237744" cy="237744"/>
          </a:xfrm>
          <a:prstGeom prst="ellipse">
            <a:avLst/>
          </a:prstGeom>
          <a:solidFill>
            <a:srgbClr val="0277BD"/>
          </a:solidFill>
          <a:ln w="12700">
            <a:solidFill>
              <a:srgbClr val="0277BD"/>
            </a:solidFill>
            <a:prstDash val="solid"/>
          </a:ln>
        </p:spPr>
      </p:sp>
      <p:sp>
        <p:nvSpPr>
          <p:cNvPr id="23" name="Text 21"/>
          <p:cNvSpPr/>
          <p:nvPr/>
        </p:nvSpPr>
        <p:spPr>
          <a:xfrm>
            <a:off x="475488" y="484632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22960" y="4791456"/>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Yellow = Mid</a:t>
            </a:r>
            <a:endParaRPr lang="en-US" sz="1250" dirty="0"/>
          </a:p>
        </p:txBody>
      </p:sp>
      <p:sp>
        <p:nvSpPr>
          <p:cNvPr id="25" name="Text 23"/>
          <p:cNvSpPr/>
          <p:nvPr/>
        </p:nvSpPr>
        <p:spPr>
          <a:xfrm>
            <a:off x="822960" y="5065776"/>
            <a:ext cx="3429000" cy="38404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Only low and mid switches active</a:t>
            </a:r>
            <a:endParaRPr lang="en-US" sz="1150" dirty="0"/>
          </a:p>
        </p:txBody>
      </p:sp>
      <p:sp>
        <p:nvSpPr>
          <p:cNvPr id="26" name="Shape 24"/>
          <p:cNvSpPr/>
          <p:nvPr/>
        </p:nvSpPr>
        <p:spPr>
          <a:xfrm>
            <a:off x="475488" y="5605272"/>
            <a:ext cx="237744" cy="237744"/>
          </a:xfrm>
          <a:prstGeom prst="ellipse">
            <a:avLst/>
          </a:prstGeom>
          <a:solidFill>
            <a:srgbClr val="0277BD"/>
          </a:solidFill>
          <a:ln w="12700">
            <a:solidFill>
              <a:srgbClr val="0277BD"/>
            </a:solidFill>
            <a:prstDash val="solid"/>
          </a:ln>
        </p:spPr>
      </p:sp>
      <p:sp>
        <p:nvSpPr>
          <p:cNvPr id="27" name="Text 25"/>
          <p:cNvSpPr/>
          <p:nvPr/>
        </p:nvSpPr>
        <p:spPr>
          <a:xfrm>
            <a:off x="475488" y="560527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8" name="Text 26"/>
          <p:cNvSpPr/>
          <p:nvPr/>
        </p:nvSpPr>
        <p:spPr>
          <a:xfrm>
            <a:off x="822960" y="5550408"/>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Red = Low / Empty</a:t>
            </a:r>
            <a:endParaRPr lang="en-US" sz="1250" dirty="0"/>
          </a:p>
        </p:txBody>
      </p:sp>
      <p:sp>
        <p:nvSpPr>
          <p:cNvPr id="29" name="Text 27"/>
          <p:cNvSpPr/>
          <p:nvPr/>
        </p:nvSpPr>
        <p:spPr>
          <a:xfrm>
            <a:off x="822960" y="5824728"/>
            <a:ext cx="3429000" cy="38404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Only the lowest switch, or none — time to refill</a:t>
            </a:r>
            <a:endParaRPr lang="en-US" sz="1150" dirty="0"/>
          </a:p>
        </p:txBody>
      </p:sp>
      <p:sp>
        <p:nvSpPr>
          <p:cNvPr id="30" name="Shape 28"/>
          <p:cNvSpPr/>
          <p:nvPr/>
        </p:nvSpPr>
        <p:spPr>
          <a:xfrm>
            <a:off x="4709160" y="1097280"/>
            <a:ext cx="4114800" cy="2514600"/>
          </a:xfrm>
          <a:prstGeom prst="rect">
            <a:avLst/>
          </a:prstGeom>
          <a:solidFill>
            <a:srgbClr val="FFFFFF"/>
          </a:solidFill>
          <a:ln w="10160">
            <a:solidFill>
              <a:srgbClr val="E0E8E0"/>
            </a:solidFill>
            <a:prstDash val="solid"/>
          </a:ln>
          <a:effectLst>
            <a:outerShdw sx="100000" sy="100000" kx="0" ky="0" algn="bl" rotWithShape="0" blurRad="63500" dist="25400" dir="8100000">
              <a:srgbClr val="000000">
                <a:alpha val="10000"/>
              </a:srgbClr>
            </a:outerShdw>
          </a:effectLst>
        </p:spPr>
      </p:sp>
      <p:sp>
        <p:nvSpPr>
          <p:cNvPr id="31" name="Text 29"/>
          <p:cNvSpPr/>
          <p:nvPr/>
        </p:nvSpPr>
        <p:spPr>
          <a:xfrm>
            <a:off x="4892040" y="1234440"/>
            <a:ext cx="3749040" cy="347472"/>
          </a:xfrm>
          <a:prstGeom prst="rect">
            <a:avLst/>
          </a:prstGeom>
          <a:noFill/>
          <a:ln/>
        </p:spPr>
        <p:txBody>
          <a:bodyPr wrap="square" lIns="0" tIns="0" rIns="0" bIns="0" rtlCol="0" anchor="ctr"/>
          <a:lstStyle/>
          <a:p>
            <a:pPr algn="l" indent="0" marL="0">
              <a:buNone/>
            </a:pPr>
            <a:r>
              <a:rPr lang="en-US" sz="1400" b="1" dirty="0">
                <a:solidFill>
                  <a:srgbClr val="1C3D1C"/>
                </a:solidFill>
                <a:latin typeface="Georgia" pitchFamily="34" charset="0"/>
                <a:ea typeface="Georgia" pitchFamily="34" charset="-122"/>
                <a:cs typeface="Georgia" pitchFamily="34" charset="-120"/>
              </a:rPr>
              <a:t>Hardware</a:t>
            </a:r>
            <a:endParaRPr lang="en-US" sz="1400" dirty="0"/>
          </a:p>
        </p:txBody>
      </p:sp>
      <p:sp>
        <p:nvSpPr>
          <p:cNvPr id="32" name="Text 30"/>
          <p:cNvSpPr/>
          <p:nvPr/>
        </p:nvSpPr>
        <p:spPr>
          <a:xfrm>
            <a:off x="4892040" y="1664208"/>
            <a:ext cx="3749040" cy="237744"/>
          </a:xfrm>
          <a:prstGeom prst="rect">
            <a:avLst/>
          </a:prstGeom>
          <a:noFill/>
          <a:ln/>
        </p:spPr>
        <p:txBody>
          <a:bodyPr wrap="square" lIns="0" tIns="0" rIns="0" bIns="0" rtlCol="0" anchor="ctr"/>
          <a:lstStyle/>
          <a:p>
            <a:pPr algn="l" indent="0" marL="0">
              <a:buNone/>
            </a:pPr>
            <a:r>
              <a:rPr lang="en-US" sz="1200" b="1" dirty="0">
                <a:solidFill>
                  <a:srgbClr val="1A1A1A"/>
                </a:solidFill>
                <a:latin typeface="Calibri" pitchFamily="34" charset="0"/>
                <a:ea typeface="Calibri" pitchFamily="34" charset="-122"/>
                <a:cs typeface="Calibri" pitchFamily="34" charset="-120"/>
              </a:rPr>
              <a:t>3× vertical float switch (NO)</a:t>
            </a:r>
            <a:endParaRPr lang="en-US" sz="1200" dirty="0"/>
          </a:p>
        </p:txBody>
      </p:sp>
      <p:sp>
        <p:nvSpPr>
          <p:cNvPr id="33" name="Text 31"/>
          <p:cNvSpPr/>
          <p:nvPr/>
        </p:nvSpPr>
        <p:spPr>
          <a:xfrm>
            <a:off x="4892040" y="1883664"/>
            <a:ext cx="3749040" cy="201168"/>
          </a:xfrm>
          <a:prstGeom prst="rect">
            <a:avLst/>
          </a:prstGeom>
          <a:noFill/>
          <a:ln/>
        </p:spPr>
        <p:txBody>
          <a:bodyPr wrap="square" lIns="0" tIns="0" rIns="0" bIns="0" rtlCol="0" anchor="ctr"/>
          <a:lstStyle/>
          <a:p>
            <a:pPr algn="l" indent="0" marL="0">
              <a:buNone/>
            </a:pPr>
            <a:r>
              <a:rPr lang="en-US" sz="1100" dirty="0">
                <a:solidFill>
                  <a:srgbClr val="546E7A"/>
                </a:solidFill>
                <a:latin typeface="Calibri" pitchFamily="34" charset="0"/>
                <a:ea typeface="Calibri" pitchFamily="34" charset="-122"/>
                <a:cs typeface="Calibri" pitchFamily="34" charset="-120"/>
              </a:rPr>
              <a:t>GPIO22 low / GPIO23 mid / GPIO24 high</a:t>
            </a:r>
            <a:endParaRPr lang="en-US" sz="1100" dirty="0"/>
          </a:p>
        </p:txBody>
      </p:sp>
      <p:sp>
        <p:nvSpPr>
          <p:cNvPr id="34" name="Text 32"/>
          <p:cNvSpPr/>
          <p:nvPr/>
        </p:nvSpPr>
        <p:spPr>
          <a:xfrm>
            <a:off x="4892040" y="2103120"/>
            <a:ext cx="3749040" cy="237744"/>
          </a:xfrm>
          <a:prstGeom prst="rect">
            <a:avLst/>
          </a:prstGeom>
          <a:noFill/>
          <a:ln/>
        </p:spPr>
        <p:txBody>
          <a:bodyPr wrap="square" lIns="0" tIns="0" rIns="0" bIns="0" rtlCol="0" anchor="ctr"/>
          <a:lstStyle/>
          <a:p>
            <a:pPr algn="l" indent="0" marL="0">
              <a:buNone/>
            </a:pPr>
            <a:r>
              <a:rPr lang="en-US" sz="1200" b="1" dirty="0">
                <a:solidFill>
                  <a:srgbClr val="1A1A1A"/>
                </a:solidFill>
                <a:latin typeface="Calibri" pitchFamily="34" charset="0"/>
                <a:ea typeface="Calibri" pitchFamily="34" charset="-122"/>
                <a:cs typeface="Calibri" pitchFamily="34" charset="-120"/>
              </a:rPr>
              <a:t>Red LED</a:t>
            </a:r>
            <a:endParaRPr lang="en-US" sz="1200" dirty="0"/>
          </a:p>
        </p:txBody>
      </p:sp>
      <p:sp>
        <p:nvSpPr>
          <p:cNvPr id="35" name="Text 33"/>
          <p:cNvSpPr/>
          <p:nvPr/>
        </p:nvSpPr>
        <p:spPr>
          <a:xfrm>
            <a:off x="4892040" y="2322576"/>
            <a:ext cx="3749040" cy="201168"/>
          </a:xfrm>
          <a:prstGeom prst="rect">
            <a:avLst/>
          </a:prstGeom>
          <a:noFill/>
          <a:ln/>
        </p:spPr>
        <p:txBody>
          <a:bodyPr wrap="square" lIns="0" tIns="0" rIns="0" bIns="0" rtlCol="0" anchor="ctr"/>
          <a:lstStyle/>
          <a:p>
            <a:pPr algn="l" indent="0" marL="0">
              <a:buNone/>
            </a:pPr>
            <a:r>
              <a:rPr lang="en-US" sz="1100" dirty="0">
                <a:solidFill>
                  <a:srgbClr val="546E7A"/>
                </a:solidFill>
                <a:latin typeface="Calibri" pitchFamily="34" charset="0"/>
                <a:ea typeface="Calibri" pitchFamily="34" charset="-122"/>
                <a:cs typeface="Calibri" pitchFamily="34" charset="-120"/>
              </a:rPr>
              <a:t>GPIO25 — low/empty</a:t>
            </a:r>
            <a:endParaRPr lang="en-US" sz="1100" dirty="0"/>
          </a:p>
        </p:txBody>
      </p:sp>
      <p:sp>
        <p:nvSpPr>
          <p:cNvPr id="36" name="Text 34"/>
          <p:cNvSpPr/>
          <p:nvPr/>
        </p:nvSpPr>
        <p:spPr>
          <a:xfrm>
            <a:off x="4892040" y="2542032"/>
            <a:ext cx="3749040" cy="237744"/>
          </a:xfrm>
          <a:prstGeom prst="rect">
            <a:avLst/>
          </a:prstGeom>
          <a:noFill/>
          <a:ln/>
        </p:spPr>
        <p:txBody>
          <a:bodyPr wrap="square" lIns="0" tIns="0" rIns="0" bIns="0" rtlCol="0" anchor="ctr"/>
          <a:lstStyle/>
          <a:p>
            <a:pPr algn="l" indent="0" marL="0">
              <a:buNone/>
            </a:pPr>
            <a:r>
              <a:rPr lang="en-US" sz="1200" b="1" dirty="0">
                <a:solidFill>
                  <a:srgbClr val="1A1A1A"/>
                </a:solidFill>
                <a:latin typeface="Calibri" pitchFamily="34" charset="0"/>
                <a:ea typeface="Calibri" pitchFamily="34" charset="-122"/>
                <a:cs typeface="Calibri" pitchFamily="34" charset="-120"/>
              </a:rPr>
              <a:t>Yellow LED</a:t>
            </a:r>
            <a:endParaRPr lang="en-US" sz="1200" dirty="0"/>
          </a:p>
        </p:txBody>
      </p:sp>
      <p:sp>
        <p:nvSpPr>
          <p:cNvPr id="37" name="Text 35"/>
          <p:cNvSpPr/>
          <p:nvPr/>
        </p:nvSpPr>
        <p:spPr>
          <a:xfrm>
            <a:off x="4892040" y="2761488"/>
            <a:ext cx="3749040" cy="201168"/>
          </a:xfrm>
          <a:prstGeom prst="rect">
            <a:avLst/>
          </a:prstGeom>
          <a:noFill/>
          <a:ln/>
        </p:spPr>
        <p:txBody>
          <a:bodyPr wrap="square" lIns="0" tIns="0" rIns="0" bIns="0" rtlCol="0" anchor="ctr"/>
          <a:lstStyle/>
          <a:p>
            <a:pPr algn="l" indent="0" marL="0">
              <a:buNone/>
            </a:pPr>
            <a:r>
              <a:rPr lang="en-US" sz="1100" dirty="0">
                <a:solidFill>
                  <a:srgbClr val="546E7A"/>
                </a:solidFill>
                <a:latin typeface="Calibri" pitchFamily="34" charset="0"/>
                <a:ea typeface="Calibri" pitchFamily="34" charset="-122"/>
                <a:cs typeface="Calibri" pitchFamily="34" charset="-120"/>
              </a:rPr>
              <a:t>GPIO27 — mid level</a:t>
            </a:r>
            <a:endParaRPr lang="en-US" sz="1100" dirty="0"/>
          </a:p>
        </p:txBody>
      </p:sp>
      <p:sp>
        <p:nvSpPr>
          <p:cNvPr id="38" name="Text 36"/>
          <p:cNvSpPr/>
          <p:nvPr/>
        </p:nvSpPr>
        <p:spPr>
          <a:xfrm>
            <a:off x="4892040" y="2980944"/>
            <a:ext cx="3749040" cy="237744"/>
          </a:xfrm>
          <a:prstGeom prst="rect">
            <a:avLst/>
          </a:prstGeom>
          <a:noFill/>
          <a:ln/>
        </p:spPr>
        <p:txBody>
          <a:bodyPr wrap="square" lIns="0" tIns="0" rIns="0" bIns="0" rtlCol="0" anchor="ctr"/>
          <a:lstStyle/>
          <a:p>
            <a:pPr algn="l" indent="0" marL="0">
              <a:buNone/>
            </a:pPr>
            <a:r>
              <a:rPr lang="en-US" sz="1200" b="1" dirty="0">
                <a:solidFill>
                  <a:srgbClr val="1A1A1A"/>
                </a:solidFill>
                <a:latin typeface="Calibri" pitchFamily="34" charset="0"/>
                <a:ea typeface="Calibri" pitchFamily="34" charset="-122"/>
                <a:cs typeface="Calibri" pitchFamily="34" charset="-120"/>
              </a:rPr>
              <a:t>Green LED</a:t>
            </a:r>
            <a:endParaRPr lang="en-US" sz="1200" dirty="0"/>
          </a:p>
        </p:txBody>
      </p:sp>
      <p:sp>
        <p:nvSpPr>
          <p:cNvPr id="39" name="Text 37"/>
          <p:cNvSpPr/>
          <p:nvPr/>
        </p:nvSpPr>
        <p:spPr>
          <a:xfrm>
            <a:off x="4892040" y="3200400"/>
            <a:ext cx="3749040" cy="201168"/>
          </a:xfrm>
          <a:prstGeom prst="rect">
            <a:avLst/>
          </a:prstGeom>
          <a:noFill/>
          <a:ln/>
        </p:spPr>
        <p:txBody>
          <a:bodyPr wrap="square" lIns="0" tIns="0" rIns="0" bIns="0" rtlCol="0" anchor="ctr"/>
          <a:lstStyle/>
          <a:p>
            <a:pPr algn="l" indent="0" marL="0">
              <a:buNone/>
            </a:pPr>
            <a:r>
              <a:rPr lang="en-US" sz="1100" dirty="0">
                <a:solidFill>
                  <a:srgbClr val="546E7A"/>
                </a:solidFill>
                <a:latin typeface="Calibri" pitchFamily="34" charset="0"/>
                <a:ea typeface="Calibri" pitchFamily="34" charset="-122"/>
                <a:cs typeface="Calibri" pitchFamily="34" charset="-120"/>
              </a:rPr>
              <a:t>GPIO18 — full</a:t>
            </a:r>
            <a:endParaRPr lang="en-US" sz="1100" dirty="0"/>
          </a:p>
        </p:txBody>
      </p:sp>
      <p:sp>
        <p:nvSpPr>
          <p:cNvPr id="40" name="Shape 38"/>
          <p:cNvSpPr/>
          <p:nvPr/>
        </p:nvSpPr>
        <p:spPr>
          <a:xfrm>
            <a:off x="4709160" y="3749040"/>
            <a:ext cx="4114800" cy="2834640"/>
          </a:xfrm>
          <a:prstGeom prst="rect">
            <a:avLst/>
          </a:prstGeom>
          <a:solidFill>
            <a:srgbClr val="1E2419"/>
          </a:solidFill>
          <a:ln w="12700">
            <a:solidFill>
              <a:srgbClr val="1E2419"/>
            </a:solidFill>
            <a:prstDash val="solid"/>
          </a:ln>
        </p:spPr>
      </p:sp>
      <p:sp>
        <p:nvSpPr>
          <p:cNvPr id="41" name="Text 39"/>
          <p:cNvSpPr/>
          <p:nvPr/>
        </p:nvSpPr>
        <p:spPr>
          <a:xfrm>
            <a:off x="4873752" y="3886200"/>
            <a:ext cx="3840480" cy="2606040"/>
          </a:xfrm>
          <a:prstGeom prst="rect">
            <a:avLst/>
          </a:prstGeom>
          <a:noFill/>
          <a:ln/>
        </p:spPr>
        <p:txBody>
          <a:bodyPr wrap="square" lIns="0" tIns="0" rIns="0" bIns="0" rtlCol="0" anchor="t"/>
          <a:lstStyle/>
          <a:p>
            <a:pPr algn="l" indent="0" marL="0">
              <a:buNone/>
            </a:pPr>
            <a:r>
              <a:rPr lang="en-US" sz="1150" dirty="0">
                <a:solidFill>
                  <a:srgbClr val="A5D6A7"/>
                </a:solidFill>
                <a:latin typeface="Consolas" pitchFamily="34" charset="0"/>
                <a:ea typeface="Consolas" pitchFamily="34" charset="-122"/>
                <a:cs typeface="Consolas" pitchFamily="34" charset="-120"/>
              </a:rPr>
              <a:t>if water_high.is_active:</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    led_green.on()   # Full</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elif water_mid.is_active:</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    led_yellow.on()  # Mid</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elif water_low.is_active:</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    led_red.on()     # Low</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else:</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    led_red.on()     # Empty</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B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3D1C"/>
          </a:solidFill>
          <a:ln w="12700">
            <a:solidFill>
              <a:srgbClr val="1C3D1C"/>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Food Level Indicator</a:t>
            </a:r>
            <a:endParaRPr lang="en-US" sz="2600" dirty="0"/>
          </a:p>
        </p:txBody>
      </p:sp>
      <p:sp>
        <p:nvSpPr>
          <p:cNvPr id="4" name="Shape 2"/>
          <p:cNvSpPr/>
          <p:nvPr/>
        </p:nvSpPr>
        <p:spPr>
          <a:xfrm>
            <a:off x="320040" y="1097280"/>
            <a:ext cx="4114800" cy="5486400"/>
          </a:xfrm>
          <a:prstGeom prst="rect">
            <a:avLst/>
          </a:prstGeom>
          <a:solidFill>
            <a:srgbClr val="FFFFFF"/>
          </a:solidFill>
          <a:ln w="10160">
            <a:solidFill>
              <a:srgbClr val="E0E8E0"/>
            </a:solidFill>
            <a:prstDash val="solid"/>
          </a:ln>
          <a:effectLst>
            <a:outerShdw sx="100000" sy="100000" kx="0" ky="0" algn="bl" rotWithShape="0" blurRad="63500" dist="25400" dir="8100000">
              <a:srgbClr val="000000">
                <a:alpha val="10000"/>
              </a:srgbClr>
            </a:outerShdw>
          </a:effectLst>
        </p:spPr>
      </p:sp>
      <p:sp>
        <p:nvSpPr>
          <p:cNvPr id="5" name="Text 3"/>
          <p:cNvSpPr/>
          <p:nvPr/>
        </p:nvSpPr>
        <p:spPr>
          <a:xfrm>
            <a:off x="502920" y="1261872"/>
            <a:ext cx="3749040" cy="384048"/>
          </a:xfrm>
          <a:prstGeom prst="rect">
            <a:avLst/>
          </a:prstGeom>
          <a:noFill/>
          <a:ln/>
        </p:spPr>
        <p:txBody>
          <a:bodyPr wrap="square" lIns="0" tIns="0" rIns="0" bIns="0" rtlCol="0" anchor="ctr"/>
          <a:lstStyle/>
          <a:p>
            <a:pPr algn="l" indent="0" marL="0">
              <a:buNone/>
            </a:pPr>
            <a:r>
              <a:rPr lang="en-US" sz="1500" b="1" dirty="0">
                <a:solidFill>
                  <a:srgbClr val="1C3D1C"/>
                </a:solidFill>
                <a:latin typeface="Georgia" pitchFamily="34" charset="0"/>
                <a:ea typeface="Georgia" pitchFamily="34" charset="-122"/>
                <a:cs typeface="Georgia" pitchFamily="34" charset="-120"/>
              </a:rPr>
              <a:t>How It Works</a:t>
            </a:r>
            <a:endParaRPr lang="en-US" sz="1500" dirty="0"/>
          </a:p>
        </p:txBody>
      </p:sp>
      <p:sp>
        <p:nvSpPr>
          <p:cNvPr id="6" name="Shape 4"/>
          <p:cNvSpPr/>
          <p:nvPr/>
        </p:nvSpPr>
        <p:spPr>
          <a:xfrm>
            <a:off x="475488" y="1810512"/>
            <a:ext cx="237744" cy="237744"/>
          </a:xfrm>
          <a:prstGeom prst="ellipse">
            <a:avLst/>
          </a:prstGeom>
          <a:solidFill>
            <a:srgbClr val="6A1B9A"/>
          </a:solidFill>
          <a:ln w="12700">
            <a:solidFill>
              <a:srgbClr val="6A1B9A"/>
            </a:solidFill>
            <a:prstDash val="solid"/>
          </a:ln>
        </p:spPr>
      </p:sp>
      <p:sp>
        <p:nvSpPr>
          <p:cNvPr id="7" name="Text 5"/>
          <p:cNvSpPr/>
          <p:nvPr/>
        </p:nvSpPr>
        <p:spPr>
          <a:xfrm>
            <a:off x="475488" y="181051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6"/>
          <p:cNvSpPr/>
          <p:nvPr/>
        </p:nvSpPr>
        <p:spPr>
          <a:xfrm>
            <a:off x="822960" y="1755648"/>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Lever arm sits in the food hopper</a:t>
            </a:r>
            <a:endParaRPr lang="en-US" sz="1250" dirty="0"/>
          </a:p>
        </p:txBody>
      </p:sp>
      <p:sp>
        <p:nvSpPr>
          <p:cNvPr id="9" name="Text 7"/>
          <p:cNvSpPr/>
          <p:nvPr/>
        </p:nvSpPr>
        <p:spPr>
          <a:xfrm>
            <a:off x="822960" y="2029968"/>
            <a:ext cx="3429000" cy="38404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One end of the arm rests on top of the food. As food is eaten, the arm drops</a:t>
            </a:r>
            <a:endParaRPr lang="en-US" sz="1150" dirty="0"/>
          </a:p>
        </p:txBody>
      </p:sp>
      <p:sp>
        <p:nvSpPr>
          <p:cNvPr id="10" name="Shape 8"/>
          <p:cNvSpPr/>
          <p:nvPr/>
        </p:nvSpPr>
        <p:spPr>
          <a:xfrm>
            <a:off x="475488" y="2569464"/>
            <a:ext cx="237744" cy="237744"/>
          </a:xfrm>
          <a:prstGeom prst="ellipse">
            <a:avLst/>
          </a:prstGeom>
          <a:solidFill>
            <a:srgbClr val="6A1B9A"/>
          </a:solidFill>
          <a:ln w="12700">
            <a:solidFill>
              <a:srgbClr val="6A1B9A"/>
            </a:solidFill>
            <a:prstDash val="solid"/>
          </a:ln>
        </p:spPr>
      </p:sp>
      <p:sp>
        <p:nvSpPr>
          <p:cNvPr id="11" name="Text 9"/>
          <p:cNvSpPr/>
          <p:nvPr/>
        </p:nvSpPr>
        <p:spPr>
          <a:xfrm>
            <a:off x="475488" y="2569464"/>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2" name="Text 10"/>
          <p:cNvSpPr/>
          <p:nvPr/>
        </p:nvSpPr>
        <p:spPr>
          <a:xfrm>
            <a:off x="822960" y="2514600"/>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Potentiometer at the pivot point</a:t>
            </a:r>
            <a:endParaRPr lang="en-US" sz="1250" dirty="0"/>
          </a:p>
        </p:txBody>
      </p:sp>
      <p:sp>
        <p:nvSpPr>
          <p:cNvPr id="13" name="Text 11"/>
          <p:cNvSpPr/>
          <p:nvPr/>
        </p:nvSpPr>
        <p:spPr>
          <a:xfrm>
            <a:off x="822960" y="2788920"/>
            <a:ext cx="3429000" cy="38404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As the lever rotates, the pot wiper moves — outputting a different voltage</a:t>
            </a:r>
            <a:endParaRPr lang="en-US" sz="1150" dirty="0"/>
          </a:p>
        </p:txBody>
      </p:sp>
      <p:sp>
        <p:nvSpPr>
          <p:cNvPr id="14" name="Shape 12"/>
          <p:cNvSpPr/>
          <p:nvPr/>
        </p:nvSpPr>
        <p:spPr>
          <a:xfrm>
            <a:off x="475488" y="3328416"/>
            <a:ext cx="237744" cy="237744"/>
          </a:xfrm>
          <a:prstGeom prst="ellipse">
            <a:avLst/>
          </a:prstGeom>
          <a:solidFill>
            <a:srgbClr val="6A1B9A"/>
          </a:solidFill>
          <a:ln w="12700">
            <a:solidFill>
              <a:srgbClr val="6A1B9A"/>
            </a:solidFill>
            <a:prstDash val="solid"/>
          </a:ln>
        </p:spPr>
      </p:sp>
      <p:sp>
        <p:nvSpPr>
          <p:cNvPr id="15" name="Text 13"/>
          <p:cNvSpPr/>
          <p:nvPr/>
        </p:nvSpPr>
        <p:spPr>
          <a:xfrm>
            <a:off x="475488" y="332841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6" name="Text 14"/>
          <p:cNvSpPr/>
          <p:nvPr/>
        </p:nvSpPr>
        <p:spPr>
          <a:xfrm>
            <a:off x="822960" y="3273552"/>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MCP3008 reads the voltage</a:t>
            </a:r>
            <a:endParaRPr lang="en-US" sz="1250" dirty="0"/>
          </a:p>
        </p:txBody>
      </p:sp>
      <p:sp>
        <p:nvSpPr>
          <p:cNvPr id="17" name="Text 15"/>
          <p:cNvSpPr/>
          <p:nvPr/>
        </p:nvSpPr>
        <p:spPr>
          <a:xfrm>
            <a:off x="822960" y="3547872"/>
            <a:ext cx="3429000" cy="38404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Converts the analog voltage (0–3.3V) to a digital value (0.0–1.0)</a:t>
            </a:r>
            <a:endParaRPr lang="en-US" sz="1150" dirty="0"/>
          </a:p>
        </p:txBody>
      </p:sp>
      <p:sp>
        <p:nvSpPr>
          <p:cNvPr id="18" name="Shape 16"/>
          <p:cNvSpPr/>
          <p:nvPr/>
        </p:nvSpPr>
        <p:spPr>
          <a:xfrm>
            <a:off x="475488" y="4087368"/>
            <a:ext cx="237744" cy="237744"/>
          </a:xfrm>
          <a:prstGeom prst="ellipse">
            <a:avLst/>
          </a:prstGeom>
          <a:solidFill>
            <a:srgbClr val="6A1B9A"/>
          </a:solidFill>
          <a:ln w="12700">
            <a:solidFill>
              <a:srgbClr val="6A1B9A"/>
            </a:solidFill>
            <a:prstDash val="solid"/>
          </a:ln>
        </p:spPr>
      </p:sp>
      <p:sp>
        <p:nvSpPr>
          <p:cNvPr id="19" name="Text 17"/>
          <p:cNvSpPr/>
          <p:nvPr/>
        </p:nvSpPr>
        <p:spPr>
          <a:xfrm>
            <a:off x="475488" y="408736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0" name="Text 18"/>
          <p:cNvSpPr/>
          <p:nvPr/>
        </p:nvSpPr>
        <p:spPr>
          <a:xfrm>
            <a:off x="822960" y="4032504"/>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1.0 = full, 0.0 = empty</a:t>
            </a:r>
            <a:endParaRPr lang="en-US" sz="1250" dirty="0"/>
          </a:p>
        </p:txBody>
      </p:sp>
      <p:sp>
        <p:nvSpPr>
          <p:cNvPr id="21" name="Text 19"/>
          <p:cNvSpPr/>
          <p:nvPr/>
        </p:nvSpPr>
        <p:spPr>
          <a:xfrm>
            <a:off x="822960" y="4306824"/>
            <a:ext cx="3429000" cy="38404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After fitting the lever, FOOD_LOW_THRESHOLD in config.py is calibrated</a:t>
            </a:r>
            <a:endParaRPr lang="en-US" sz="1150" dirty="0"/>
          </a:p>
        </p:txBody>
      </p:sp>
      <p:sp>
        <p:nvSpPr>
          <p:cNvPr id="22" name="Shape 20"/>
          <p:cNvSpPr/>
          <p:nvPr/>
        </p:nvSpPr>
        <p:spPr>
          <a:xfrm>
            <a:off x="475488" y="4846320"/>
            <a:ext cx="237744" cy="237744"/>
          </a:xfrm>
          <a:prstGeom prst="ellipse">
            <a:avLst/>
          </a:prstGeom>
          <a:solidFill>
            <a:srgbClr val="6A1B9A"/>
          </a:solidFill>
          <a:ln w="12700">
            <a:solidFill>
              <a:srgbClr val="6A1B9A"/>
            </a:solidFill>
            <a:prstDash val="solid"/>
          </a:ln>
        </p:spPr>
      </p:sp>
      <p:sp>
        <p:nvSpPr>
          <p:cNvPr id="23" name="Text 21"/>
          <p:cNvSpPr/>
          <p:nvPr/>
        </p:nvSpPr>
        <p:spPr>
          <a:xfrm>
            <a:off x="475488" y="484632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22960" y="4791456"/>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Below 25% — red LED on</a:t>
            </a:r>
            <a:endParaRPr lang="en-US" sz="1250" dirty="0"/>
          </a:p>
        </p:txBody>
      </p:sp>
      <p:sp>
        <p:nvSpPr>
          <p:cNvPr id="25" name="Text 23"/>
          <p:cNvSpPr/>
          <p:nvPr/>
        </p:nvSpPr>
        <p:spPr>
          <a:xfrm>
            <a:off x="822960" y="5065776"/>
            <a:ext cx="3429000" cy="38404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Exterior panel light turns red, visible from outside the coop</a:t>
            </a:r>
            <a:endParaRPr lang="en-US" sz="1150" dirty="0"/>
          </a:p>
        </p:txBody>
      </p:sp>
      <p:sp>
        <p:nvSpPr>
          <p:cNvPr id="26" name="Shape 24"/>
          <p:cNvSpPr/>
          <p:nvPr/>
        </p:nvSpPr>
        <p:spPr>
          <a:xfrm>
            <a:off x="475488" y="5605272"/>
            <a:ext cx="237744" cy="237744"/>
          </a:xfrm>
          <a:prstGeom prst="ellipse">
            <a:avLst/>
          </a:prstGeom>
          <a:solidFill>
            <a:srgbClr val="6A1B9A"/>
          </a:solidFill>
          <a:ln w="12700">
            <a:solidFill>
              <a:srgbClr val="6A1B9A"/>
            </a:solidFill>
            <a:prstDash val="solid"/>
          </a:ln>
        </p:spPr>
      </p:sp>
      <p:sp>
        <p:nvSpPr>
          <p:cNvPr id="27" name="Text 25"/>
          <p:cNvSpPr/>
          <p:nvPr/>
        </p:nvSpPr>
        <p:spPr>
          <a:xfrm>
            <a:off x="475488" y="560527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8" name="Text 26"/>
          <p:cNvSpPr/>
          <p:nvPr/>
        </p:nvSpPr>
        <p:spPr>
          <a:xfrm>
            <a:off x="822960" y="5550408"/>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Above 25% — green LED on</a:t>
            </a:r>
            <a:endParaRPr lang="en-US" sz="1250" dirty="0"/>
          </a:p>
        </p:txBody>
      </p:sp>
      <p:sp>
        <p:nvSpPr>
          <p:cNvPr id="29" name="Text 27"/>
          <p:cNvSpPr/>
          <p:nvPr/>
        </p:nvSpPr>
        <p:spPr>
          <a:xfrm>
            <a:off x="822960" y="5824728"/>
            <a:ext cx="3429000" cy="38404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Green means the hopper has enough food</a:t>
            </a:r>
            <a:endParaRPr lang="en-US" sz="1150" dirty="0"/>
          </a:p>
        </p:txBody>
      </p:sp>
      <p:sp>
        <p:nvSpPr>
          <p:cNvPr id="30" name="Shape 28"/>
          <p:cNvSpPr/>
          <p:nvPr/>
        </p:nvSpPr>
        <p:spPr>
          <a:xfrm>
            <a:off x="4709160" y="1097280"/>
            <a:ext cx="4114800" cy="2514600"/>
          </a:xfrm>
          <a:prstGeom prst="rect">
            <a:avLst/>
          </a:prstGeom>
          <a:solidFill>
            <a:srgbClr val="FFFFFF"/>
          </a:solidFill>
          <a:ln w="10160">
            <a:solidFill>
              <a:srgbClr val="E0E8E0"/>
            </a:solidFill>
            <a:prstDash val="solid"/>
          </a:ln>
          <a:effectLst>
            <a:outerShdw sx="100000" sy="100000" kx="0" ky="0" algn="bl" rotWithShape="0" blurRad="63500" dist="25400" dir="8100000">
              <a:srgbClr val="000000">
                <a:alpha val="10000"/>
              </a:srgbClr>
            </a:outerShdw>
          </a:effectLst>
        </p:spPr>
      </p:sp>
      <p:sp>
        <p:nvSpPr>
          <p:cNvPr id="31" name="Text 29"/>
          <p:cNvSpPr/>
          <p:nvPr/>
        </p:nvSpPr>
        <p:spPr>
          <a:xfrm>
            <a:off x="4892040" y="1234440"/>
            <a:ext cx="3749040" cy="347472"/>
          </a:xfrm>
          <a:prstGeom prst="rect">
            <a:avLst/>
          </a:prstGeom>
          <a:noFill/>
          <a:ln/>
        </p:spPr>
        <p:txBody>
          <a:bodyPr wrap="square" lIns="0" tIns="0" rIns="0" bIns="0" rtlCol="0" anchor="ctr"/>
          <a:lstStyle/>
          <a:p>
            <a:pPr algn="l" indent="0" marL="0">
              <a:buNone/>
            </a:pPr>
            <a:r>
              <a:rPr lang="en-US" sz="1400" b="1" dirty="0">
                <a:solidFill>
                  <a:srgbClr val="1C3D1C"/>
                </a:solidFill>
                <a:latin typeface="Georgia" pitchFamily="34" charset="0"/>
                <a:ea typeface="Georgia" pitchFamily="34" charset="-122"/>
                <a:cs typeface="Georgia" pitchFamily="34" charset="-120"/>
              </a:rPr>
              <a:t>Hardware</a:t>
            </a:r>
            <a:endParaRPr lang="en-US" sz="1400" dirty="0"/>
          </a:p>
        </p:txBody>
      </p:sp>
      <p:sp>
        <p:nvSpPr>
          <p:cNvPr id="32" name="Text 30"/>
          <p:cNvSpPr/>
          <p:nvPr/>
        </p:nvSpPr>
        <p:spPr>
          <a:xfrm>
            <a:off x="4892040" y="1664208"/>
            <a:ext cx="3749040" cy="237744"/>
          </a:xfrm>
          <a:prstGeom prst="rect">
            <a:avLst/>
          </a:prstGeom>
          <a:noFill/>
          <a:ln/>
        </p:spPr>
        <p:txBody>
          <a:bodyPr wrap="square" lIns="0" tIns="0" rIns="0" bIns="0" rtlCol="0" anchor="ctr"/>
          <a:lstStyle/>
          <a:p>
            <a:pPr algn="l" indent="0" marL="0">
              <a:buNone/>
            </a:pPr>
            <a:r>
              <a:rPr lang="en-US" sz="1200" b="1" dirty="0">
                <a:solidFill>
                  <a:srgbClr val="1A1A1A"/>
                </a:solidFill>
                <a:latin typeface="Calibri" pitchFamily="34" charset="0"/>
                <a:ea typeface="Calibri" pitchFamily="34" charset="-122"/>
                <a:cs typeface="Calibri" pitchFamily="34" charset="-120"/>
              </a:rPr>
              <a:t>10kΩ rotary potentiometer</a:t>
            </a:r>
            <a:endParaRPr lang="en-US" sz="1200" dirty="0"/>
          </a:p>
        </p:txBody>
      </p:sp>
      <p:sp>
        <p:nvSpPr>
          <p:cNvPr id="33" name="Text 31"/>
          <p:cNvSpPr/>
          <p:nvPr/>
        </p:nvSpPr>
        <p:spPr>
          <a:xfrm>
            <a:off x="4892040" y="1883664"/>
            <a:ext cx="3749040" cy="201168"/>
          </a:xfrm>
          <a:prstGeom prst="rect">
            <a:avLst/>
          </a:prstGeom>
          <a:noFill/>
          <a:ln/>
        </p:spPr>
        <p:txBody>
          <a:bodyPr wrap="square" lIns="0" tIns="0" rIns="0" bIns="0" rtlCol="0" anchor="ctr"/>
          <a:lstStyle/>
          <a:p>
            <a:pPr algn="l" indent="0" marL="0">
              <a:buNone/>
            </a:pPr>
            <a:r>
              <a:rPr lang="en-US" sz="1100" dirty="0">
                <a:solidFill>
                  <a:srgbClr val="546E7A"/>
                </a:solidFill>
                <a:latin typeface="Calibri" pitchFamily="34" charset="0"/>
                <a:ea typeface="Calibri" pitchFamily="34" charset="-122"/>
                <a:cs typeface="Calibri" pitchFamily="34" charset="-120"/>
              </a:rPr>
              <a:t>Mounted at lever pivot → MCP3008 CH1</a:t>
            </a:r>
            <a:endParaRPr lang="en-US" sz="1100" dirty="0"/>
          </a:p>
        </p:txBody>
      </p:sp>
      <p:sp>
        <p:nvSpPr>
          <p:cNvPr id="34" name="Text 32"/>
          <p:cNvSpPr/>
          <p:nvPr/>
        </p:nvSpPr>
        <p:spPr>
          <a:xfrm>
            <a:off x="4892040" y="2103120"/>
            <a:ext cx="3749040" cy="237744"/>
          </a:xfrm>
          <a:prstGeom prst="rect">
            <a:avLst/>
          </a:prstGeom>
          <a:noFill/>
          <a:ln/>
        </p:spPr>
        <p:txBody>
          <a:bodyPr wrap="square" lIns="0" tIns="0" rIns="0" bIns="0" rtlCol="0" anchor="ctr"/>
          <a:lstStyle/>
          <a:p>
            <a:pPr algn="l" indent="0" marL="0">
              <a:buNone/>
            </a:pPr>
            <a:r>
              <a:rPr lang="en-US" sz="1200" b="1" dirty="0">
                <a:solidFill>
                  <a:srgbClr val="1A1A1A"/>
                </a:solidFill>
                <a:latin typeface="Calibri" pitchFamily="34" charset="0"/>
                <a:ea typeface="Calibri" pitchFamily="34" charset="-122"/>
                <a:cs typeface="Calibri" pitchFamily="34" charset="-120"/>
              </a:rPr>
              <a:t>Lever arm</a:t>
            </a:r>
            <a:endParaRPr lang="en-US" sz="1200" dirty="0"/>
          </a:p>
        </p:txBody>
      </p:sp>
      <p:sp>
        <p:nvSpPr>
          <p:cNvPr id="35" name="Text 33"/>
          <p:cNvSpPr/>
          <p:nvPr/>
        </p:nvSpPr>
        <p:spPr>
          <a:xfrm>
            <a:off x="4892040" y="2322576"/>
            <a:ext cx="3749040" cy="201168"/>
          </a:xfrm>
          <a:prstGeom prst="rect">
            <a:avLst/>
          </a:prstGeom>
          <a:noFill/>
          <a:ln/>
        </p:spPr>
        <p:txBody>
          <a:bodyPr wrap="square" lIns="0" tIns="0" rIns="0" bIns="0" rtlCol="0" anchor="ctr"/>
          <a:lstStyle/>
          <a:p>
            <a:pPr algn="l" indent="0" marL="0">
              <a:buNone/>
            </a:pPr>
            <a:r>
              <a:rPr lang="en-US" sz="1100" dirty="0">
                <a:solidFill>
                  <a:srgbClr val="546E7A"/>
                </a:solidFill>
                <a:latin typeface="Calibri" pitchFamily="34" charset="0"/>
                <a:ea typeface="Calibri" pitchFamily="34" charset="-122"/>
                <a:cs typeface="Calibri" pitchFamily="34" charset="-120"/>
              </a:rPr>
              <a:t>Custom-built, sits in the feeder hopper</a:t>
            </a:r>
            <a:endParaRPr lang="en-US" sz="1100" dirty="0"/>
          </a:p>
        </p:txBody>
      </p:sp>
      <p:sp>
        <p:nvSpPr>
          <p:cNvPr id="36" name="Text 34"/>
          <p:cNvSpPr/>
          <p:nvPr/>
        </p:nvSpPr>
        <p:spPr>
          <a:xfrm>
            <a:off x="4892040" y="2542032"/>
            <a:ext cx="3749040" cy="237744"/>
          </a:xfrm>
          <a:prstGeom prst="rect">
            <a:avLst/>
          </a:prstGeom>
          <a:noFill/>
          <a:ln/>
        </p:spPr>
        <p:txBody>
          <a:bodyPr wrap="square" lIns="0" tIns="0" rIns="0" bIns="0" rtlCol="0" anchor="ctr"/>
          <a:lstStyle/>
          <a:p>
            <a:pPr algn="l" indent="0" marL="0">
              <a:buNone/>
            </a:pPr>
            <a:r>
              <a:rPr lang="en-US" sz="1200" b="1" dirty="0">
                <a:solidFill>
                  <a:srgbClr val="1A1A1A"/>
                </a:solidFill>
                <a:latin typeface="Calibri" pitchFamily="34" charset="0"/>
                <a:ea typeface="Calibri" pitchFamily="34" charset="-122"/>
                <a:cs typeface="Calibri" pitchFamily="34" charset="-120"/>
              </a:rPr>
              <a:t>Red LED + 220Ω</a:t>
            </a:r>
            <a:endParaRPr lang="en-US" sz="1200" dirty="0"/>
          </a:p>
        </p:txBody>
      </p:sp>
      <p:sp>
        <p:nvSpPr>
          <p:cNvPr id="37" name="Text 35"/>
          <p:cNvSpPr/>
          <p:nvPr/>
        </p:nvSpPr>
        <p:spPr>
          <a:xfrm>
            <a:off x="4892040" y="2761488"/>
            <a:ext cx="3749040" cy="201168"/>
          </a:xfrm>
          <a:prstGeom prst="rect">
            <a:avLst/>
          </a:prstGeom>
          <a:noFill/>
          <a:ln/>
        </p:spPr>
        <p:txBody>
          <a:bodyPr wrap="square" lIns="0" tIns="0" rIns="0" bIns="0" rtlCol="0" anchor="ctr"/>
          <a:lstStyle/>
          <a:p>
            <a:pPr algn="l" indent="0" marL="0">
              <a:buNone/>
            </a:pPr>
            <a:r>
              <a:rPr lang="en-US" sz="1100" dirty="0">
                <a:solidFill>
                  <a:srgbClr val="546E7A"/>
                </a:solidFill>
                <a:latin typeface="Calibri" pitchFamily="34" charset="0"/>
                <a:ea typeface="Calibri" pitchFamily="34" charset="-122"/>
                <a:cs typeface="Calibri" pitchFamily="34" charset="-120"/>
              </a:rPr>
              <a:t>GPIO21 — needs food</a:t>
            </a:r>
            <a:endParaRPr lang="en-US" sz="1100" dirty="0"/>
          </a:p>
        </p:txBody>
      </p:sp>
      <p:sp>
        <p:nvSpPr>
          <p:cNvPr id="38" name="Text 36"/>
          <p:cNvSpPr/>
          <p:nvPr/>
        </p:nvSpPr>
        <p:spPr>
          <a:xfrm>
            <a:off x="4892040" y="2980944"/>
            <a:ext cx="3749040" cy="237744"/>
          </a:xfrm>
          <a:prstGeom prst="rect">
            <a:avLst/>
          </a:prstGeom>
          <a:noFill/>
          <a:ln/>
        </p:spPr>
        <p:txBody>
          <a:bodyPr wrap="square" lIns="0" tIns="0" rIns="0" bIns="0" rtlCol="0" anchor="ctr"/>
          <a:lstStyle/>
          <a:p>
            <a:pPr algn="l" indent="0" marL="0">
              <a:buNone/>
            </a:pPr>
            <a:r>
              <a:rPr lang="en-US" sz="1200" b="1" dirty="0">
                <a:solidFill>
                  <a:srgbClr val="1A1A1A"/>
                </a:solidFill>
                <a:latin typeface="Calibri" pitchFamily="34" charset="0"/>
                <a:ea typeface="Calibri" pitchFamily="34" charset="-122"/>
                <a:cs typeface="Calibri" pitchFamily="34" charset="-120"/>
              </a:rPr>
              <a:t>Green LED + 220Ω</a:t>
            </a:r>
            <a:endParaRPr lang="en-US" sz="1200" dirty="0"/>
          </a:p>
        </p:txBody>
      </p:sp>
      <p:sp>
        <p:nvSpPr>
          <p:cNvPr id="39" name="Text 37"/>
          <p:cNvSpPr/>
          <p:nvPr/>
        </p:nvSpPr>
        <p:spPr>
          <a:xfrm>
            <a:off x="4892040" y="3200400"/>
            <a:ext cx="3749040" cy="201168"/>
          </a:xfrm>
          <a:prstGeom prst="rect">
            <a:avLst/>
          </a:prstGeom>
          <a:noFill/>
          <a:ln/>
        </p:spPr>
        <p:txBody>
          <a:bodyPr wrap="square" lIns="0" tIns="0" rIns="0" bIns="0" rtlCol="0" anchor="ctr"/>
          <a:lstStyle/>
          <a:p>
            <a:pPr algn="l" indent="0" marL="0">
              <a:buNone/>
            </a:pPr>
            <a:r>
              <a:rPr lang="en-US" sz="1100" dirty="0">
                <a:solidFill>
                  <a:srgbClr val="546E7A"/>
                </a:solidFill>
                <a:latin typeface="Calibri" pitchFamily="34" charset="0"/>
                <a:ea typeface="Calibri" pitchFamily="34" charset="-122"/>
                <a:cs typeface="Calibri" pitchFamily="34" charset="-120"/>
              </a:rPr>
              <a:t>GPIO14 — food OK</a:t>
            </a:r>
            <a:endParaRPr lang="en-US" sz="1100" dirty="0"/>
          </a:p>
        </p:txBody>
      </p:sp>
      <p:sp>
        <p:nvSpPr>
          <p:cNvPr id="40" name="Shape 38"/>
          <p:cNvSpPr/>
          <p:nvPr/>
        </p:nvSpPr>
        <p:spPr>
          <a:xfrm>
            <a:off x="4709160" y="3749040"/>
            <a:ext cx="4114800" cy="2834640"/>
          </a:xfrm>
          <a:prstGeom prst="rect">
            <a:avLst/>
          </a:prstGeom>
          <a:solidFill>
            <a:srgbClr val="1E2419"/>
          </a:solidFill>
          <a:ln w="12700">
            <a:solidFill>
              <a:srgbClr val="1E2419"/>
            </a:solidFill>
            <a:prstDash val="solid"/>
          </a:ln>
        </p:spPr>
      </p:sp>
      <p:sp>
        <p:nvSpPr>
          <p:cNvPr id="41" name="Text 39"/>
          <p:cNvSpPr/>
          <p:nvPr/>
        </p:nvSpPr>
        <p:spPr>
          <a:xfrm>
            <a:off x="4873752" y="3886200"/>
            <a:ext cx="3840480" cy="2606040"/>
          </a:xfrm>
          <a:prstGeom prst="rect">
            <a:avLst/>
          </a:prstGeom>
          <a:noFill/>
          <a:ln/>
        </p:spPr>
        <p:txBody>
          <a:bodyPr wrap="square" lIns="0" tIns="0" rIns="0" bIns="0" rtlCol="0" anchor="t"/>
          <a:lstStyle/>
          <a:p>
            <a:pPr algn="l" indent="0" marL="0">
              <a:buNone/>
            </a:pPr>
            <a:r>
              <a:rPr lang="en-US" sz="1150" dirty="0">
                <a:solidFill>
                  <a:srgbClr val="A5D6A7"/>
                </a:solidFill>
                <a:latin typeface="Consolas" pitchFamily="34" charset="0"/>
                <a:ea typeface="Consolas" pitchFamily="34" charset="-122"/>
                <a:cs typeface="Consolas" pitchFamily="34" charset="-120"/>
              </a:rPr>
              <a:t># MCP3008 reads 0.0 (empty)</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 to 1.0 (full)</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food_level = food_pot.value</a:t>
            </a:r>
            <a:endParaRPr lang="en-US" sz="1150" dirty="0"/>
          </a:p>
          <a:p>
            <a:pPr algn="l" indent="0" marL="0">
              <a:buNone/>
            </a:pP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if food_level &lt; 0.25:</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    food_led_red.on()</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    food_led_green.off()</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else:</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    food_led_green.on()</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B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3D1C"/>
          </a:solidFill>
          <a:ln w="12700">
            <a:solidFill>
              <a:srgbClr val="1C3D1C"/>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Automatic Lights</a:t>
            </a:r>
            <a:endParaRPr lang="en-US" sz="2600" dirty="0"/>
          </a:p>
        </p:txBody>
      </p:sp>
      <p:sp>
        <p:nvSpPr>
          <p:cNvPr id="4" name="Shape 2"/>
          <p:cNvSpPr/>
          <p:nvPr/>
        </p:nvSpPr>
        <p:spPr>
          <a:xfrm>
            <a:off x="320040" y="1097280"/>
            <a:ext cx="4114800" cy="5486400"/>
          </a:xfrm>
          <a:prstGeom prst="rect">
            <a:avLst/>
          </a:prstGeom>
          <a:solidFill>
            <a:srgbClr val="FFFFFF"/>
          </a:solidFill>
          <a:ln w="10160">
            <a:solidFill>
              <a:srgbClr val="E0E8E0"/>
            </a:solidFill>
            <a:prstDash val="solid"/>
          </a:ln>
          <a:effectLst>
            <a:outerShdw sx="100000" sy="100000" kx="0" ky="0" algn="bl" rotWithShape="0" blurRad="63500" dist="25400" dir="8100000">
              <a:srgbClr val="000000">
                <a:alpha val="10000"/>
              </a:srgbClr>
            </a:outerShdw>
          </a:effectLst>
        </p:spPr>
      </p:sp>
      <p:sp>
        <p:nvSpPr>
          <p:cNvPr id="5" name="Text 3"/>
          <p:cNvSpPr/>
          <p:nvPr/>
        </p:nvSpPr>
        <p:spPr>
          <a:xfrm>
            <a:off x="502920" y="1261872"/>
            <a:ext cx="3749040" cy="384048"/>
          </a:xfrm>
          <a:prstGeom prst="rect">
            <a:avLst/>
          </a:prstGeom>
          <a:noFill/>
          <a:ln/>
        </p:spPr>
        <p:txBody>
          <a:bodyPr wrap="square" lIns="0" tIns="0" rIns="0" bIns="0" rtlCol="0" anchor="ctr"/>
          <a:lstStyle/>
          <a:p>
            <a:pPr algn="l" indent="0" marL="0">
              <a:buNone/>
            </a:pPr>
            <a:r>
              <a:rPr lang="en-US" sz="1500" b="1" dirty="0">
                <a:solidFill>
                  <a:srgbClr val="1C3D1C"/>
                </a:solidFill>
                <a:latin typeface="Georgia" pitchFamily="34" charset="0"/>
                <a:ea typeface="Georgia" pitchFamily="34" charset="-122"/>
                <a:cs typeface="Georgia" pitchFamily="34" charset="-120"/>
              </a:rPr>
              <a:t>How It Works</a:t>
            </a:r>
            <a:endParaRPr lang="en-US" sz="1500" dirty="0"/>
          </a:p>
        </p:txBody>
      </p:sp>
      <p:sp>
        <p:nvSpPr>
          <p:cNvPr id="6" name="Shape 4"/>
          <p:cNvSpPr/>
          <p:nvPr/>
        </p:nvSpPr>
        <p:spPr>
          <a:xfrm>
            <a:off x="475488" y="1819656"/>
            <a:ext cx="237744" cy="237744"/>
          </a:xfrm>
          <a:prstGeom prst="ellipse">
            <a:avLst/>
          </a:prstGeom>
          <a:solidFill>
            <a:srgbClr val="E65100"/>
          </a:solidFill>
          <a:ln w="12700">
            <a:solidFill>
              <a:srgbClr val="E65100"/>
            </a:solidFill>
            <a:prstDash val="solid"/>
          </a:ln>
        </p:spPr>
      </p:sp>
      <p:sp>
        <p:nvSpPr>
          <p:cNvPr id="7" name="Text 5"/>
          <p:cNvSpPr/>
          <p:nvPr/>
        </p:nvSpPr>
        <p:spPr>
          <a:xfrm>
            <a:off x="475488" y="181965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6"/>
          <p:cNvSpPr/>
          <p:nvPr/>
        </p:nvSpPr>
        <p:spPr>
          <a:xfrm>
            <a:off x="822960" y="1755648"/>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Two separate light circuits</a:t>
            </a:r>
            <a:endParaRPr lang="en-US" sz="1250" dirty="0"/>
          </a:p>
        </p:txBody>
      </p:sp>
      <p:sp>
        <p:nvSpPr>
          <p:cNvPr id="9" name="Text 7"/>
          <p:cNvSpPr/>
          <p:nvPr/>
        </p:nvSpPr>
        <p:spPr>
          <a:xfrm>
            <a:off x="822960" y="2029968"/>
            <a:ext cx="3429000" cy="47548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One for the interior of the coop, one for the outdoor run area</a:t>
            </a:r>
            <a:endParaRPr lang="en-US" sz="1150" dirty="0"/>
          </a:p>
        </p:txBody>
      </p:sp>
      <p:sp>
        <p:nvSpPr>
          <p:cNvPr id="10" name="Shape 8"/>
          <p:cNvSpPr/>
          <p:nvPr/>
        </p:nvSpPr>
        <p:spPr>
          <a:xfrm>
            <a:off x="475488" y="2706624"/>
            <a:ext cx="237744" cy="237744"/>
          </a:xfrm>
          <a:prstGeom prst="ellipse">
            <a:avLst/>
          </a:prstGeom>
          <a:solidFill>
            <a:srgbClr val="E65100"/>
          </a:solidFill>
          <a:ln w="12700">
            <a:solidFill>
              <a:srgbClr val="E65100"/>
            </a:solidFill>
            <a:prstDash val="solid"/>
          </a:ln>
        </p:spPr>
      </p:sp>
      <p:sp>
        <p:nvSpPr>
          <p:cNvPr id="11" name="Text 9"/>
          <p:cNvSpPr/>
          <p:nvPr/>
        </p:nvSpPr>
        <p:spPr>
          <a:xfrm>
            <a:off x="475488" y="2706624"/>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2" name="Text 10"/>
          <p:cNvSpPr/>
          <p:nvPr/>
        </p:nvSpPr>
        <p:spPr>
          <a:xfrm>
            <a:off x="822960" y="2642616"/>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Schedule set in config.py</a:t>
            </a:r>
            <a:endParaRPr lang="en-US" sz="1250" dirty="0"/>
          </a:p>
        </p:txBody>
      </p:sp>
      <p:sp>
        <p:nvSpPr>
          <p:cNvPr id="13" name="Text 11"/>
          <p:cNvSpPr/>
          <p:nvPr/>
        </p:nvSpPr>
        <p:spPr>
          <a:xfrm>
            <a:off x="822960" y="2916936"/>
            <a:ext cx="3429000" cy="47548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Default: on at 6:00am, off at 10:00pm. Change the hours without touching the code</a:t>
            </a:r>
            <a:endParaRPr lang="en-US" sz="1150" dirty="0"/>
          </a:p>
        </p:txBody>
      </p:sp>
      <p:sp>
        <p:nvSpPr>
          <p:cNvPr id="14" name="Shape 12"/>
          <p:cNvSpPr/>
          <p:nvPr/>
        </p:nvSpPr>
        <p:spPr>
          <a:xfrm>
            <a:off x="475488" y="3593592"/>
            <a:ext cx="237744" cy="237744"/>
          </a:xfrm>
          <a:prstGeom prst="ellipse">
            <a:avLst/>
          </a:prstGeom>
          <a:solidFill>
            <a:srgbClr val="E65100"/>
          </a:solidFill>
          <a:ln w="12700">
            <a:solidFill>
              <a:srgbClr val="E65100"/>
            </a:solidFill>
            <a:prstDash val="solid"/>
          </a:ln>
        </p:spPr>
      </p:sp>
      <p:sp>
        <p:nvSpPr>
          <p:cNvPr id="15" name="Text 13"/>
          <p:cNvSpPr/>
          <p:nvPr/>
        </p:nvSpPr>
        <p:spPr>
          <a:xfrm>
            <a:off x="475488" y="359359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6" name="Text 14"/>
          <p:cNvSpPr/>
          <p:nvPr/>
        </p:nvSpPr>
        <p:spPr>
          <a:xfrm>
            <a:off x="822960" y="3529584"/>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Pi checks time every 10 seconds</a:t>
            </a:r>
            <a:endParaRPr lang="en-US" sz="1250" dirty="0"/>
          </a:p>
        </p:txBody>
      </p:sp>
      <p:sp>
        <p:nvSpPr>
          <p:cNvPr id="17" name="Text 15"/>
          <p:cNvSpPr/>
          <p:nvPr/>
        </p:nvSpPr>
        <p:spPr>
          <a:xfrm>
            <a:off x="822960" y="3803904"/>
            <a:ext cx="3429000" cy="47548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Uses Python datetime — no external RTC needed because Pi 5 syncs via WiFi NTP</a:t>
            </a:r>
            <a:endParaRPr lang="en-US" sz="1150" dirty="0"/>
          </a:p>
        </p:txBody>
      </p:sp>
      <p:sp>
        <p:nvSpPr>
          <p:cNvPr id="18" name="Shape 16"/>
          <p:cNvSpPr/>
          <p:nvPr/>
        </p:nvSpPr>
        <p:spPr>
          <a:xfrm>
            <a:off x="475488" y="4480560"/>
            <a:ext cx="237744" cy="237744"/>
          </a:xfrm>
          <a:prstGeom prst="ellipse">
            <a:avLst/>
          </a:prstGeom>
          <a:solidFill>
            <a:srgbClr val="E65100"/>
          </a:solidFill>
          <a:ln w="12700">
            <a:solidFill>
              <a:srgbClr val="E65100"/>
            </a:solidFill>
            <a:prstDash val="solid"/>
          </a:ln>
        </p:spPr>
      </p:sp>
      <p:sp>
        <p:nvSpPr>
          <p:cNvPr id="19" name="Text 17"/>
          <p:cNvSpPr/>
          <p:nvPr/>
        </p:nvSpPr>
        <p:spPr>
          <a:xfrm>
            <a:off x="475488" y="448056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0" name="Text 18"/>
          <p:cNvSpPr/>
          <p:nvPr/>
        </p:nvSpPr>
        <p:spPr>
          <a:xfrm>
            <a:off x="822960" y="4416552"/>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Relay switches the 12V circuit</a:t>
            </a:r>
            <a:endParaRPr lang="en-US" sz="1250" dirty="0"/>
          </a:p>
        </p:txBody>
      </p:sp>
      <p:sp>
        <p:nvSpPr>
          <p:cNvPr id="21" name="Text 19"/>
          <p:cNvSpPr/>
          <p:nvPr/>
        </p:nvSpPr>
        <p:spPr>
          <a:xfrm>
            <a:off x="822960" y="4690872"/>
            <a:ext cx="3429000" cy="47548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Pi GPIO drives a 5V relay that controls the 12V LED strip — safe separation of voltages</a:t>
            </a:r>
            <a:endParaRPr lang="en-US" sz="1150" dirty="0"/>
          </a:p>
        </p:txBody>
      </p:sp>
      <p:sp>
        <p:nvSpPr>
          <p:cNvPr id="22" name="Shape 20"/>
          <p:cNvSpPr/>
          <p:nvPr/>
        </p:nvSpPr>
        <p:spPr>
          <a:xfrm>
            <a:off x="475488" y="5367528"/>
            <a:ext cx="237744" cy="237744"/>
          </a:xfrm>
          <a:prstGeom prst="ellipse">
            <a:avLst/>
          </a:prstGeom>
          <a:solidFill>
            <a:srgbClr val="E65100"/>
          </a:solidFill>
          <a:ln w="12700">
            <a:solidFill>
              <a:srgbClr val="E65100"/>
            </a:solidFill>
            <a:prstDash val="solid"/>
          </a:ln>
        </p:spPr>
      </p:sp>
      <p:sp>
        <p:nvSpPr>
          <p:cNvPr id="23" name="Text 21"/>
          <p:cNvSpPr/>
          <p:nvPr/>
        </p:nvSpPr>
        <p:spPr>
          <a:xfrm>
            <a:off x="475488" y="536752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p:nvPr/>
        </p:nvSpPr>
        <p:spPr>
          <a:xfrm>
            <a:off x="822960" y="5303520"/>
            <a:ext cx="3429000" cy="256032"/>
          </a:xfrm>
          <a:prstGeom prst="rect">
            <a:avLst/>
          </a:prstGeom>
          <a:noFill/>
          <a:ln/>
        </p:spPr>
        <p:txBody>
          <a:bodyPr wrap="square" lIns="0" tIns="0" rIns="0" bIns="0" rtlCol="0" anchor="ctr"/>
          <a:lstStyle/>
          <a:p>
            <a:pPr algn="l" indent="0" marL="0">
              <a:buNone/>
            </a:pPr>
            <a:r>
              <a:rPr lang="en-US" sz="1250" b="1" dirty="0">
                <a:solidFill>
                  <a:srgbClr val="1A1A1A"/>
                </a:solidFill>
                <a:latin typeface="Calibri" pitchFamily="34" charset="0"/>
                <a:ea typeface="Calibri" pitchFamily="34" charset="-122"/>
                <a:cs typeface="Calibri" pitchFamily="34" charset="-120"/>
              </a:rPr>
              <a:t>State tracking prevents flicker</a:t>
            </a:r>
            <a:endParaRPr lang="en-US" sz="1250" dirty="0"/>
          </a:p>
        </p:txBody>
      </p:sp>
      <p:sp>
        <p:nvSpPr>
          <p:cNvPr id="25" name="Text 23"/>
          <p:cNvSpPr/>
          <p:nvPr/>
        </p:nvSpPr>
        <p:spPr>
          <a:xfrm>
            <a:off x="822960" y="5577840"/>
            <a:ext cx="3429000" cy="475488"/>
          </a:xfrm>
          <a:prstGeom prst="rect">
            <a:avLst/>
          </a:prstGeom>
          <a:noFill/>
          <a:ln/>
        </p:spPr>
        <p:txBody>
          <a:bodyPr wrap="square" lIns="0" tIns="0" rIns="0" bIns="0" rtlCol="0" anchor="ctr"/>
          <a:lstStyle/>
          <a:p>
            <a:pPr algn="l" indent="0" marL="0">
              <a:buNone/>
            </a:pPr>
            <a:r>
              <a:rPr lang="en-US" sz="1150" dirty="0">
                <a:solidFill>
                  <a:srgbClr val="546E7A"/>
                </a:solidFill>
                <a:latin typeface="Calibri" pitchFamily="34" charset="0"/>
                <a:ea typeface="Calibri" pitchFamily="34" charset="-122"/>
                <a:cs typeface="Calibri" pitchFamily="34" charset="-120"/>
              </a:rPr>
              <a:t>The code only switches when the state actually needs to change</a:t>
            </a:r>
            <a:endParaRPr lang="en-US" sz="1150" dirty="0"/>
          </a:p>
        </p:txBody>
      </p:sp>
      <p:sp>
        <p:nvSpPr>
          <p:cNvPr id="26" name="Shape 24"/>
          <p:cNvSpPr/>
          <p:nvPr/>
        </p:nvSpPr>
        <p:spPr>
          <a:xfrm>
            <a:off x="4709160" y="1097280"/>
            <a:ext cx="4114800" cy="2377440"/>
          </a:xfrm>
          <a:prstGeom prst="rect">
            <a:avLst/>
          </a:prstGeom>
          <a:solidFill>
            <a:srgbClr val="FFFFFF"/>
          </a:solidFill>
          <a:ln w="10160">
            <a:solidFill>
              <a:srgbClr val="E0E8E0"/>
            </a:solidFill>
            <a:prstDash val="solid"/>
          </a:ln>
          <a:effectLst>
            <a:outerShdw sx="100000" sy="100000" kx="0" ky="0" algn="bl" rotWithShape="0" blurRad="63500" dist="25400" dir="8100000">
              <a:srgbClr val="000000">
                <a:alpha val="10000"/>
              </a:srgbClr>
            </a:outerShdw>
          </a:effectLst>
        </p:spPr>
      </p:sp>
      <p:sp>
        <p:nvSpPr>
          <p:cNvPr id="27" name="Text 25"/>
          <p:cNvSpPr/>
          <p:nvPr/>
        </p:nvSpPr>
        <p:spPr>
          <a:xfrm>
            <a:off x="4892040" y="1234440"/>
            <a:ext cx="3749040" cy="347472"/>
          </a:xfrm>
          <a:prstGeom prst="rect">
            <a:avLst/>
          </a:prstGeom>
          <a:noFill/>
          <a:ln/>
        </p:spPr>
        <p:txBody>
          <a:bodyPr wrap="square" lIns="0" tIns="0" rIns="0" bIns="0" rtlCol="0" anchor="ctr"/>
          <a:lstStyle/>
          <a:p>
            <a:pPr algn="l" indent="0" marL="0">
              <a:buNone/>
            </a:pPr>
            <a:r>
              <a:rPr lang="en-US" sz="1400" b="1" dirty="0">
                <a:solidFill>
                  <a:srgbClr val="1C3D1C"/>
                </a:solidFill>
                <a:latin typeface="Georgia" pitchFamily="34" charset="0"/>
                <a:ea typeface="Georgia" pitchFamily="34" charset="-122"/>
                <a:cs typeface="Georgia" pitchFamily="34" charset="-120"/>
              </a:rPr>
              <a:t>Hardware</a:t>
            </a:r>
            <a:endParaRPr lang="en-US" sz="1400" dirty="0"/>
          </a:p>
        </p:txBody>
      </p:sp>
      <p:sp>
        <p:nvSpPr>
          <p:cNvPr id="28" name="Text 26"/>
          <p:cNvSpPr/>
          <p:nvPr/>
        </p:nvSpPr>
        <p:spPr>
          <a:xfrm>
            <a:off x="4892040" y="1664208"/>
            <a:ext cx="3749040" cy="256032"/>
          </a:xfrm>
          <a:prstGeom prst="rect">
            <a:avLst/>
          </a:prstGeom>
          <a:noFill/>
          <a:ln/>
        </p:spPr>
        <p:txBody>
          <a:bodyPr wrap="square" lIns="0" tIns="0" rIns="0" bIns="0" rtlCol="0" anchor="ctr"/>
          <a:lstStyle/>
          <a:p>
            <a:pPr algn="l" indent="0" marL="0">
              <a:buNone/>
            </a:pPr>
            <a:r>
              <a:rPr lang="en-US" sz="1200" b="1" dirty="0">
                <a:solidFill>
                  <a:srgbClr val="1A1A1A"/>
                </a:solidFill>
                <a:latin typeface="Calibri" pitchFamily="34" charset="0"/>
                <a:ea typeface="Calibri" pitchFamily="34" charset="-122"/>
                <a:cs typeface="Calibri" pitchFamily="34" charset="-120"/>
              </a:rPr>
              <a:t>12V warm white LED strip</a:t>
            </a:r>
            <a:endParaRPr lang="en-US" sz="1200" dirty="0"/>
          </a:p>
        </p:txBody>
      </p:sp>
      <p:sp>
        <p:nvSpPr>
          <p:cNvPr id="29" name="Text 27"/>
          <p:cNvSpPr/>
          <p:nvPr/>
        </p:nvSpPr>
        <p:spPr>
          <a:xfrm>
            <a:off x="4892040" y="1901952"/>
            <a:ext cx="3749040" cy="219456"/>
          </a:xfrm>
          <a:prstGeom prst="rect">
            <a:avLst/>
          </a:prstGeom>
          <a:noFill/>
          <a:ln/>
        </p:spPr>
        <p:txBody>
          <a:bodyPr wrap="square" lIns="0" tIns="0" rIns="0" bIns="0" rtlCol="0" anchor="ctr"/>
          <a:lstStyle/>
          <a:p>
            <a:pPr algn="l" indent="0" marL="0">
              <a:buNone/>
            </a:pPr>
            <a:r>
              <a:rPr lang="en-US" sz="1100" dirty="0">
                <a:solidFill>
                  <a:srgbClr val="546E7A"/>
                </a:solidFill>
                <a:latin typeface="Calibri" pitchFamily="34" charset="0"/>
                <a:ea typeface="Calibri" pitchFamily="34" charset="-122"/>
                <a:cs typeface="Calibri" pitchFamily="34" charset="-120"/>
              </a:rPr>
              <a:t>Coop interior — 2-3m</a:t>
            </a:r>
            <a:endParaRPr lang="en-US" sz="1100" dirty="0"/>
          </a:p>
        </p:txBody>
      </p:sp>
      <p:sp>
        <p:nvSpPr>
          <p:cNvPr id="30" name="Text 28"/>
          <p:cNvSpPr/>
          <p:nvPr/>
        </p:nvSpPr>
        <p:spPr>
          <a:xfrm>
            <a:off x="4892040" y="2167128"/>
            <a:ext cx="3749040" cy="256032"/>
          </a:xfrm>
          <a:prstGeom prst="rect">
            <a:avLst/>
          </a:prstGeom>
          <a:noFill/>
          <a:ln/>
        </p:spPr>
        <p:txBody>
          <a:bodyPr wrap="square" lIns="0" tIns="0" rIns="0" bIns="0" rtlCol="0" anchor="ctr"/>
          <a:lstStyle/>
          <a:p>
            <a:pPr algn="l" indent="0" marL="0">
              <a:buNone/>
            </a:pPr>
            <a:r>
              <a:rPr lang="en-US" sz="1200" b="1" dirty="0">
                <a:solidFill>
                  <a:srgbClr val="1A1A1A"/>
                </a:solidFill>
                <a:latin typeface="Calibri" pitchFamily="34" charset="0"/>
                <a:ea typeface="Calibri" pitchFamily="34" charset="-122"/>
                <a:cs typeface="Calibri" pitchFamily="34" charset="-120"/>
              </a:rPr>
              <a:t>12V warm white LED strip</a:t>
            </a:r>
            <a:endParaRPr lang="en-US" sz="1200" dirty="0"/>
          </a:p>
        </p:txBody>
      </p:sp>
      <p:sp>
        <p:nvSpPr>
          <p:cNvPr id="31" name="Text 29"/>
          <p:cNvSpPr/>
          <p:nvPr/>
        </p:nvSpPr>
        <p:spPr>
          <a:xfrm>
            <a:off x="4892040" y="2404872"/>
            <a:ext cx="3749040" cy="219456"/>
          </a:xfrm>
          <a:prstGeom prst="rect">
            <a:avLst/>
          </a:prstGeom>
          <a:noFill/>
          <a:ln/>
        </p:spPr>
        <p:txBody>
          <a:bodyPr wrap="square" lIns="0" tIns="0" rIns="0" bIns="0" rtlCol="0" anchor="ctr"/>
          <a:lstStyle/>
          <a:p>
            <a:pPr algn="l" indent="0" marL="0">
              <a:buNone/>
            </a:pPr>
            <a:r>
              <a:rPr lang="en-US" sz="1100" dirty="0">
                <a:solidFill>
                  <a:srgbClr val="546E7A"/>
                </a:solidFill>
                <a:latin typeface="Calibri" pitchFamily="34" charset="0"/>
                <a:ea typeface="Calibri" pitchFamily="34" charset="-122"/>
                <a:cs typeface="Calibri" pitchFamily="34" charset="-120"/>
              </a:rPr>
              <a:t>Run / outdoor — 3-5m</a:t>
            </a:r>
            <a:endParaRPr lang="en-US" sz="1100" dirty="0"/>
          </a:p>
        </p:txBody>
      </p:sp>
      <p:sp>
        <p:nvSpPr>
          <p:cNvPr id="32" name="Text 30"/>
          <p:cNvSpPr/>
          <p:nvPr/>
        </p:nvSpPr>
        <p:spPr>
          <a:xfrm>
            <a:off x="4892040" y="2670048"/>
            <a:ext cx="3749040" cy="256032"/>
          </a:xfrm>
          <a:prstGeom prst="rect">
            <a:avLst/>
          </a:prstGeom>
          <a:noFill/>
          <a:ln/>
        </p:spPr>
        <p:txBody>
          <a:bodyPr wrap="square" lIns="0" tIns="0" rIns="0" bIns="0" rtlCol="0" anchor="ctr"/>
          <a:lstStyle/>
          <a:p>
            <a:pPr algn="l" indent="0" marL="0">
              <a:buNone/>
            </a:pPr>
            <a:r>
              <a:rPr lang="en-US" sz="1200" b="1" dirty="0">
                <a:solidFill>
                  <a:srgbClr val="1A1A1A"/>
                </a:solidFill>
                <a:latin typeface="Calibri" pitchFamily="34" charset="0"/>
                <a:ea typeface="Calibri" pitchFamily="34" charset="-122"/>
                <a:cs typeface="Calibri" pitchFamily="34" charset="-120"/>
              </a:rPr>
              <a:t>2× 5V relay module</a:t>
            </a:r>
            <a:endParaRPr lang="en-US" sz="1200" dirty="0"/>
          </a:p>
        </p:txBody>
      </p:sp>
      <p:sp>
        <p:nvSpPr>
          <p:cNvPr id="33" name="Text 31"/>
          <p:cNvSpPr/>
          <p:nvPr/>
        </p:nvSpPr>
        <p:spPr>
          <a:xfrm>
            <a:off x="4892040" y="2907792"/>
            <a:ext cx="3749040" cy="219456"/>
          </a:xfrm>
          <a:prstGeom prst="rect">
            <a:avLst/>
          </a:prstGeom>
          <a:noFill/>
          <a:ln/>
        </p:spPr>
        <p:txBody>
          <a:bodyPr wrap="square" lIns="0" tIns="0" rIns="0" bIns="0" rtlCol="0" anchor="ctr"/>
          <a:lstStyle/>
          <a:p>
            <a:pPr algn="l" indent="0" marL="0">
              <a:buNone/>
            </a:pPr>
            <a:r>
              <a:rPr lang="en-US" sz="1100" dirty="0">
                <a:solidFill>
                  <a:srgbClr val="546E7A"/>
                </a:solidFill>
                <a:latin typeface="Calibri" pitchFamily="34" charset="0"/>
                <a:ea typeface="Calibri" pitchFamily="34" charset="-122"/>
                <a:cs typeface="Calibri" pitchFamily="34" charset="-120"/>
              </a:rPr>
              <a:t>GPIO19 coop / GPIO26 run</a:t>
            </a:r>
            <a:endParaRPr lang="en-US" sz="1100" dirty="0"/>
          </a:p>
        </p:txBody>
      </p:sp>
      <p:sp>
        <p:nvSpPr>
          <p:cNvPr id="34" name="Shape 32"/>
          <p:cNvSpPr/>
          <p:nvPr/>
        </p:nvSpPr>
        <p:spPr>
          <a:xfrm>
            <a:off x="4709160" y="3611880"/>
            <a:ext cx="4114800" cy="2971800"/>
          </a:xfrm>
          <a:prstGeom prst="rect">
            <a:avLst/>
          </a:prstGeom>
          <a:solidFill>
            <a:srgbClr val="1E2419"/>
          </a:solidFill>
          <a:ln w="12700">
            <a:solidFill>
              <a:srgbClr val="1E2419"/>
            </a:solidFill>
            <a:prstDash val="solid"/>
          </a:ln>
        </p:spPr>
      </p:sp>
      <p:sp>
        <p:nvSpPr>
          <p:cNvPr id="35" name="Text 33"/>
          <p:cNvSpPr/>
          <p:nvPr/>
        </p:nvSpPr>
        <p:spPr>
          <a:xfrm>
            <a:off x="4873752" y="3749040"/>
            <a:ext cx="3840480" cy="2743200"/>
          </a:xfrm>
          <a:prstGeom prst="rect">
            <a:avLst/>
          </a:prstGeom>
          <a:noFill/>
          <a:ln/>
        </p:spPr>
        <p:txBody>
          <a:bodyPr wrap="square" lIns="0" tIns="0" rIns="0" bIns="0" rtlCol="0" anchor="t"/>
          <a:lstStyle/>
          <a:p>
            <a:pPr algn="l" indent="0" marL="0">
              <a:buNone/>
            </a:pPr>
            <a:r>
              <a:rPr lang="en-US" sz="1150" dirty="0">
                <a:solidFill>
                  <a:srgbClr val="A5D6A7"/>
                </a:solidFill>
                <a:latin typeface="Consolas" pitchFamily="34" charset="0"/>
                <a:ea typeface="Consolas" pitchFamily="34" charset="-122"/>
                <a:cs typeface="Consolas" pitchFamily="34" charset="-120"/>
              </a:rPr>
              <a:t>mins    = now.hour * 60 + now.minute</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on_min  = 6 * 60   # 6:00am</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off_min = 22 * 60  # 10:00pm</a:t>
            </a:r>
            <a:endParaRPr lang="en-US" sz="1150" dirty="0"/>
          </a:p>
          <a:p>
            <a:pPr algn="l" indent="0" marL="0">
              <a:buNone/>
            </a:pP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should_be_on = on_min &lt;= mins &lt; off_min</a:t>
            </a:r>
            <a:endParaRPr lang="en-US" sz="1150" dirty="0"/>
          </a:p>
          <a:p>
            <a:pPr algn="l" indent="0" marL="0">
              <a:buNone/>
            </a:pP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if should_be_on and not lights_on:</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    coop_light.on()</a:t>
            </a:r>
            <a:endParaRPr lang="en-US" sz="1150" dirty="0"/>
          </a:p>
          <a:p>
            <a:pPr algn="l" indent="0" marL="0">
              <a:buNone/>
            </a:pPr>
            <a:r>
              <a:rPr lang="en-US" sz="1150" dirty="0">
                <a:solidFill>
                  <a:srgbClr val="A5D6A7"/>
                </a:solidFill>
                <a:latin typeface="Consolas" pitchFamily="34" charset="0"/>
                <a:ea typeface="Consolas" pitchFamily="34" charset="-122"/>
                <a:cs typeface="Consolas" pitchFamily="34" charset="-120"/>
              </a:rPr>
              <a:t>    run_light.on()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B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3D1C"/>
          </a:solidFill>
          <a:ln w="12700">
            <a:solidFill>
              <a:srgbClr val="1C3D1C"/>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The Code</a:t>
            </a:r>
            <a:endParaRPr lang="en-US" sz="2600" dirty="0"/>
          </a:p>
        </p:txBody>
      </p:sp>
      <p:sp>
        <p:nvSpPr>
          <p:cNvPr id="4" name="Shape 2"/>
          <p:cNvSpPr/>
          <p:nvPr/>
        </p:nvSpPr>
        <p:spPr>
          <a:xfrm>
            <a:off x="320040" y="1143000"/>
            <a:ext cx="8503920" cy="1691640"/>
          </a:xfrm>
          <a:prstGeom prst="rect">
            <a:avLst/>
          </a:prstGeom>
          <a:solidFill>
            <a:srgbClr val="FFFFFF"/>
          </a:solidFill>
          <a:ln w="10160">
            <a:solidFill>
              <a:srgbClr val="E0E8E0"/>
            </a:solidFill>
            <a:prstDash val="solid"/>
          </a:ln>
          <a:effectLst>
            <a:outerShdw sx="100000" sy="100000" kx="0" ky="0" algn="bl" rotWithShape="0" blurRad="63500" dist="25400" dir="8100000">
              <a:srgbClr val="000000">
                <a:alpha val="10000"/>
              </a:srgbClr>
            </a:outerShdw>
          </a:effectLst>
        </p:spPr>
      </p:sp>
      <p:sp>
        <p:nvSpPr>
          <p:cNvPr id="5" name="Shape 3"/>
          <p:cNvSpPr/>
          <p:nvPr/>
        </p:nvSpPr>
        <p:spPr>
          <a:xfrm>
            <a:off x="320040" y="1143000"/>
            <a:ext cx="1737360" cy="1691640"/>
          </a:xfrm>
          <a:prstGeom prst="rect">
            <a:avLst/>
          </a:prstGeom>
          <a:solidFill>
            <a:srgbClr val="1565C0"/>
          </a:solidFill>
          <a:ln w="12700">
            <a:solidFill>
              <a:srgbClr val="1565C0"/>
            </a:solidFill>
            <a:prstDash val="solid"/>
          </a:ln>
        </p:spPr>
      </p:sp>
      <p:sp>
        <p:nvSpPr>
          <p:cNvPr id="6" name="Text 4"/>
          <p:cNvSpPr/>
          <p:nvPr/>
        </p:nvSpPr>
        <p:spPr>
          <a:xfrm>
            <a:off x="320040" y="1645920"/>
            <a:ext cx="173736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config.py</a:t>
            </a:r>
            <a:endParaRPr lang="en-US" sz="1300" dirty="0"/>
          </a:p>
        </p:txBody>
      </p:sp>
      <p:sp>
        <p:nvSpPr>
          <p:cNvPr id="7" name="Text 5"/>
          <p:cNvSpPr/>
          <p:nvPr/>
        </p:nvSpPr>
        <p:spPr>
          <a:xfrm>
            <a:off x="2240280" y="1344168"/>
            <a:ext cx="6355080" cy="1298448"/>
          </a:xfrm>
          <a:prstGeom prst="rect">
            <a:avLst/>
          </a:prstGeom>
          <a:noFill/>
          <a:ln/>
        </p:spPr>
        <p:txBody>
          <a:bodyPr wrap="square" lIns="0" tIns="0" rIns="0" bIns="0" rtlCol="0" anchor="ctr"/>
          <a:lstStyle/>
          <a:p>
            <a:pPr algn="l" indent="0" marL="0">
              <a:buNone/>
            </a:pPr>
            <a:r>
              <a:rPr lang="en-US" sz="1300" dirty="0">
                <a:solidFill>
                  <a:srgbClr val="1A1A1A"/>
                </a:solidFill>
                <a:latin typeface="Calibri" pitchFamily="34" charset="0"/>
                <a:ea typeface="Calibri" pitchFamily="34" charset="-122"/>
                <a:cs typeface="Calibri" pitchFamily="34" charset="-120"/>
              </a:rPr>
              <a:t>All the settings in one place — temperature thresholds, GPIO pin numbers, servo pulse values, light schedule times. Nothing is hardcoded in the main file. To change when the lights come on, you just edit one number here.</a:t>
            </a:r>
            <a:endParaRPr lang="en-US" sz="1300" dirty="0"/>
          </a:p>
        </p:txBody>
      </p:sp>
      <p:sp>
        <p:nvSpPr>
          <p:cNvPr id="8" name="Shape 6"/>
          <p:cNvSpPr/>
          <p:nvPr/>
        </p:nvSpPr>
        <p:spPr>
          <a:xfrm>
            <a:off x="320040" y="2944368"/>
            <a:ext cx="8503920" cy="1691640"/>
          </a:xfrm>
          <a:prstGeom prst="rect">
            <a:avLst/>
          </a:prstGeom>
          <a:solidFill>
            <a:srgbClr val="FFFFFF"/>
          </a:solidFill>
          <a:ln w="10160">
            <a:solidFill>
              <a:srgbClr val="E0E8E0"/>
            </a:solidFill>
            <a:prstDash val="solid"/>
          </a:ln>
          <a:effectLst>
            <a:outerShdw sx="100000" sy="100000" kx="0" ky="0" algn="bl" rotWithShape="0" blurRad="63500" dist="25400" dir="8100000">
              <a:srgbClr val="000000">
                <a:alpha val="10000"/>
              </a:srgbClr>
            </a:outerShdw>
          </a:effectLst>
        </p:spPr>
      </p:sp>
      <p:sp>
        <p:nvSpPr>
          <p:cNvPr id="9" name="Shape 7"/>
          <p:cNvSpPr/>
          <p:nvPr/>
        </p:nvSpPr>
        <p:spPr>
          <a:xfrm>
            <a:off x="320040" y="2944368"/>
            <a:ext cx="1737360" cy="1691640"/>
          </a:xfrm>
          <a:prstGeom prst="rect">
            <a:avLst/>
          </a:prstGeom>
          <a:solidFill>
            <a:srgbClr val="2E7D32"/>
          </a:solidFill>
          <a:ln w="12700">
            <a:solidFill>
              <a:srgbClr val="2E7D32"/>
            </a:solidFill>
            <a:prstDash val="solid"/>
          </a:ln>
        </p:spPr>
      </p:sp>
      <p:sp>
        <p:nvSpPr>
          <p:cNvPr id="10" name="Text 8"/>
          <p:cNvSpPr/>
          <p:nvPr/>
        </p:nvSpPr>
        <p:spPr>
          <a:xfrm>
            <a:off x="320040" y="3447288"/>
            <a:ext cx="173736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coop_controller.py</a:t>
            </a:r>
            <a:endParaRPr lang="en-US" sz="1300" dirty="0"/>
          </a:p>
        </p:txBody>
      </p:sp>
      <p:sp>
        <p:nvSpPr>
          <p:cNvPr id="11" name="Text 9"/>
          <p:cNvSpPr/>
          <p:nvPr/>
        </p:nvSpPr>
        <p:spPr>
          <a:xfrm>
            <a:off x="2240280" y="3145536"/>
            <a:ext cx="6355080" cy="1298448"/>
          </a:xfrm>
          <a:prstGeom prst="rect">
            <a:avLst/>
          </a:prstGeom>
          <a:noFill/>
          <a:ln/>
        </p:spPr>
        <p:txBody>
          <a:bodyPr wrap="square" lIns="0" tIns="0" rIns="0" bIns="0" rtlCol="0" anchor="ctr"/>
          <a:lstStyle/>
          <a:p>
            <a:pPr algn="l" indent="0" marL="0">
              <a:buNone/>
            </a:pPr>
            <a:r>
              <a:rPr lang="en-US" sz="1300" dirty="0">
                <a:solidFill>
                  <a:srgbClr val="1A1A1A"/>
                </a:solidFill>
                <a:latin typeface="Calibri" pitchFamily="34" charset="0"/>
                <a:ea typeface="Calibri" pitchFamily="34" charset="-122"/>
                <a:cs typeface="Calibri" pitchFamily="34" charset="-120"/>
              </a:rPr>
              <a:t>The main automation loop. Runs forever, waking up every 10 seconds to read sensors, check time, and update outputs. Each system is its own small function. The Pi 5 runs this as a system service that starts on boot.</a:t>
            </a:r>
            <a:endParaRPr lang="en-US" sz="1300" dirty="0"/>
          </a:p>
        </p:txBody>
      </p:sp>
      <p:sp>
        <p:nvSpPr>
          <p:cNvPr id="12" name="Shape 10"/>
          <p:cNvSpPr/>
          <p:nvPr/>
        </p:nvSpPr>
        <p:spPr>
          <a:xfrm>
            <a:off x="320040" y="4745736"/>
            <a:ext cx="8503920" cy="1691640"/>
          </a:xfrm>
          <a:prstGeom prst="rect">
            <a:avLst/>
          </a:prstGeom>
          <a:solidFill>
            <a:srgbClr val="FFFFFF"/>
          </a:solidFill>
          <a:ln w="10160">
            <a:solidFill>
              <a:srgbClr val="E0E8E0"/>
            </a:solidFill>
            <a:prstDash val="solid"/>
          </a:ln>
          <a:effectLst>
            <a:outerShdw sx="100000" sy="100000" kx="0" ky="0" algn="bl" rotWithShape="0" blurRad="63500" dist="25400" dir="8100000">
              <a:srgbClr val="000000">
                <a:alpha val="10000"/>
              </a:srgbClr>
            </a:outerShdw>
          </a:effectLst>
        </p:spPr>
      </p:sp>
      <p:sp>
        <p:nvSpPr>
          <p:cNvPr id="13" name="Shape 11"/>
          <p:cNvSpPr/>
          <p:nvPr/>
        </p:nvSpPr>
        <p:spPr>
          <a:xfrm>
            <a:off x="320040" y="4745736"/>
            <a:ext cx="1737360" cy="1691640"/>
          </a:xfrm>
          <a:prstGeom prst="rect">
            <a:avLst/>
          </a:prstGeom>
          <a:solidFill>
            <a:srgbClr val="6A1B9A"/>
          </a:solidFill>
          <a:ln w="12700">
            <a:solidFill>
              <a:srgbClr val="6A1B9A"/>
            </a:solidFill>
            <a:prstDash val="solid"/>
          </a:ln>
        </p:spPr>
      </p:sp>
      <p:sp>
        <p:nvSpPr>
          <p:cNvPr id="14" name="Text 12"/>
          <p:cNvSpPr/>
          <p:nvPr/>
        </p:nvSpPr>
        <p:spPr>
          <a:xfrm>
            <a:off x="320040" y="5248656"/>
            <a:ext cx="173736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onsolas" pitchFamily="34" charset="0"/>
                <a:ea typeface="Consolas" pitchFamily="34" charset="-122"/>
                <a:cs typeface="Consolas" pitchFamily="34" charset="-120"/>
              </a:rPr>
              <a:t>debug_panel.py</a:t>
            </a:r>
            <a:endParaRPr lang="en-US" sz="1300" dirty="0"/>
          </a:p>
        </p:txBody>
      </p:sp>
      <p:sp>
        <p:nvSpPr>
          <p:cNvPr id="15" name="Text 13"/>
          <p:cNvSpPr/>
          <p:nvPr/>
        </p:nvSpPr>
        <p:spPr>
          <a:xfrm>
            <a:off x="2240280" y="4946904"/>
            <a:ext cx="6355080" cy="1298448"/>
          </a:xfrm>
          <a:prstGeom prst="rect">
            <a:avLst/>
          </a:prstGeom>
          <a:noFill/>
          <a:ln/>
        </p:spPr>
        <p:txBody>
          <a:bodyPr wrap="square" lIns="0" tIns="0" rIns="0" bIns="0" rtlCol="0" anchor="ctr"/>
          <a:lstStyle/>
          <a:p>
            <a:pPr algn="l" indent="0" marL="0">
              <a:buNone/>
            </a:pPr>
            <a:r>
              <a:rPr lang="en-US" sz="1300" dirty="0">
                <a:solidFill>
                  <a:srgbClr val="1A1A1A"/>
                </a:solidFill>
                <a:latin typeface="Calibri" pitchFamily="34" charset="0"/>
                <a:ea typeface="Calibri" pitchFamily="34" charset="-122"/>
                <a:cs typeface="Calibri" pitchFamily="34" charset="-120"/>
              </a:rPr>
              <a:t>A Flask web server that serves a control panel on your home network. Open it on any phone or laptop to manually trigger any system, see live sensor readings, and read the log — without touching the Pi.</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FBF9"/>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3D1C"/>
          </a:solidFill>
          <a:ln w="12700">
            <a:solidFill>
              <a:srgbClr val="1C3D1C"/>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Debug Panel — Manual Control</a:t>
            </a:r>
            <a:endParaRPr lang="en-US" sz="2600" dirty="0"/>
          </a:p>
        </p:txBody>
      </p:sp>
      <p:sp>
        <p:nvSpPr>
          <p:cNvPr id="4" name="Text 2"/>
          <p:cNvSpPr/>
          <p:nvPr/>
        </p:nvSpPr>
        <p:spPr>
          <a:xfrm>
            <a:off x="457200" y="1005840"/>
            <a:ext cx="8229600" cy="658368"/>
          </a:xfrm>
          <a:prstGeom prst="rect">
            <a:avLst/>
          </a:prstGeom>
          <a:noFill/>
          <a:ln/>
        </p:spPr>
        <p:txBody>
          <a:bodyPr wrap="square" lIns="0" tIns="0" rIns="0" bIns="0" rtlCol="0" anchor="ctr"/>
          <a:lstStyle/>
          <a:p>
            <a:pPr algn="l" indent="0" marL="0">
              <a:buNone/>
            </a:pPr>
            <a:r>
              <a:rPr lang="en-US" sz="1350" dirty="0">
                <a:solidFill>
                  <a:srgbClr val="546E7A"/>
                </a:solidFill>
                <a:latin typeface="Calibri" pitchFamily="34" charset="0"/>
                <a:ea typeface="Calibri" pitchFamily="34" charset="-122"/>
                <a:cs typeface="Calibri" pitchFamily="34" charset="-120"/>
              </a:rPr>
              <a:t>During build and testing, we needed a way to trigger any part of the system manually without writing temporary code. We built a web-based control panel that runs on the Pi.</a:t>
            </a:r>
            <a:endParaRPr lang="en-US" sz="1350" dirty="0"/>
          </a:p>
        </p:txBody>
      </p:sp>
      <p:sp>
        <p:nvSpPr>
          <p:cNvPr id="5" name="Shape 3"/>
          <p:cNvSpPr/>
          <p:nvPr/>
        </p:nvSpPr>
        <p:spPr>
          <a:xfrm>
            <a:off x="320040" y="1783080"/>
            <a:ext cx="4187952" cy="2148840"/>
          </a:xfrm>
          <a:prstGeom prst="rect">
            <a:avLst/>
          </a:prstGeom>
          <a:solidFill>
            <a:srgbClr val="FFFFFF"/>
          </a:solidFill>
          <a:ln w="10160">
            <a:solidFill>
              <a:srgbClr val="E0E8E0"/>
            </a:solidFill>
            <a:prstDash val="solid"/>
          </a:ln>
          <a:effectLst>
            <a:outerShdw sx="100000" sy="100000" kx="0" ky="0" algn="bl" rotWithShape="0" blurRad="63500" dist="25400" dir="8100000">
              <a:srgbClr val="000000">
                <a:alpha val="10000"/>
              </a:srgbClr>
            </a:outerShdw>
          </a:effectLst>
        </p:spPr>
      </p:sp>
      <p:sp>
        <p:nvSpPr>
          <p:cNvPr id="6" name="Shape 4"/>
          <p:cNvSpPr/>
          <p:nvPr/>
        </p:nvSpPr>
        <p:spPr>
          <a:xfrm>
            <a:off x="320040" y="1783080"/>
            <a:ext cx="4187952" cy="502920"/>
          </a:xfrm>
          <a:prstGeom prst="rect">
            <a:avLst/>
          </a:prstGeom>
          <a:solidFill>
            <a:srgbClr val="C62828"/>
          </a:solidFill>
          <a:ln w="12700">
            <a:solidFill>
              <a:srgbClr val="C62828"/>
            </a:solidFill>
            <a:prstDash val="solid"/>
          </a:ln>
        </p:spPr>
      </p:sp>
      <p:sp>
        <p:nvSpPr>
          <p:cNvPr id="7" name="Text 5"/>
          <p:cNvSpPr/>
          <p:nvPr/>
        </p:nvSpPr>
        <p:spPr>
          <a:xfrm>
            <a:off x="457200" y="1783080"/>
            <a:ext cx="3913632" cy="502920"/>
          </a:xfrm>
          <a:prstGeom prst="rect">
            <a:avLst/>
          </a:prstGeom>
          <a:noFill/>
          <a:ln/>
        </p:spPr>
        <p:txBody>
          <a:bodyPr wrap="square" lIns="0" tIns="0" rIns="0" bIns="0" rtlCol="0" anchor="ctr"/>
          <a:lstStyle/>
          <a:p>
            <a:pPr algn="l" indent="0" marL="0">
              <a:buNone/>
            </a:pPr>
            <a:r>
              <a:rPr lang="en-US" sz="1350" b="1" dirty="0">
                <a:solidFill>
                  <a:srgbClr val="FFFFFF"/>
                </a:solidFill>
                <a:latin typeface="Georgia" pitchFamily="34" charset="0"/>
                <a:ea typeface="Georgia" pitchFamily="34" charset="-122"/>
                <a:cs typeface="Georgia" pitchFamily="34" charset="-120"/>
              </a:rPr>
              <a:t>Live sensor readings</a:t>
            </a:r>
            <a:endParaRPr lang="en-US" sz="1350" dirty="0"/>
          </a:p>
        </p:txBody>
      </p:sp>
      <p:sp>
        <p:nvSpPr>
          <p:cNvPr id="8" name="Text 6"/>
          <p:cNvSpPr/>
          <p:nvPr/>
        </p:nvSpPr>
        <p:spPr>
          <a:xfrm>
            <a:off x="457200" y="2377440"/>
            <a:ext cx="3913632" cy="1417320"/>
          </a:xfrm>
          <a:prstGeom prst="rect">
            <a:avLst/>
          </a:prstGeom>
          <a:noFill/>
          <a:ln/>
        </p:spPr>
        <p:txBody>
          <a:bodyPr wrap="square" lIns="0" tIns="0" rIns="0" bIns="0" rtlCol="0" anchor="t"/>
          <a:lstStyle/>
          <a:p>
            <a:pPr algn="l" indent="0" marL="0">
              <a:buNone/>
            </a:pPr>
            <a:r>
              <a:rPr lang="en-US" sz="1250" dirty="0">
                <a:solidFill>
                  <a:srgbClr val="1A1A1A"/>
                </a:solidFill>
                <a:latin typeface="Calibri" pitchFamily="34" charset="0"/>
                <a:ea typeface="Calibri" pitchFamily="34" charset="-122"/>
                <a:cs typeface="Calibri" pitchFamily="34" charset="-120"/>
              </a:rPr>
              <a:t>Temperature, humidity, light level, food %, water level, and both door limit switch states — all auto-refreshing every 5 seconds.</a:t>
            </a:r>
            <a:endParaRPr lang="en-US" sz="1250" dirty="0"/>
          </a:p>
        </p:txBody>
      </p:sp>
      <p:sp>
        <p:nvSpPr>
          <p:cNvPr id="9" name="Shape 7"/>
          <p:cNvSpPr/>
          <p:nvPr/>
        </p:nvSpPr>
        <p:spPr>
          <a:xfrm>
            <a:off x="4736592" y="1783080"/>
            <a:ext cx="4187952" cy="2148840"/>
          </a:xfrm>
          <a:prstGeom prst="rect">
            <a:avLst/>
          </a:prstGeom>
          <a:solidFill>
            <a:srgbClr val="FFFFFF"/>
          </a:solidFill>
          <a:ln w="10160">
            <a:solidFill>
              <a:srgbClr val="E0E8E0"/>
            </a:solidFill>
            <a:prstDash val="solid"/>
          </a:ln>
          <a:effectLst>
            <a:outerShdw sx="100000" sy="100000" kx="0" ky="0" algn="bl" rotWithShape="0" blurRad="63500" dist="25400" dir="8100000">
              <a:srgbClr val="000000">
                <a:alpha val="10000"/>
              </a:srgbClr>
            </a:outerShdw>
          </a:effectLst>
        </p:spPr>
      </p:sp>
      <p:sp>
        <p:nvSpPr>
          <p:cNvPr id="10" name="Shape 8"/>
          <p:cNvSpPr/>
          <p:nvPr/>
        </p:nvSpPr>
        <p:spPr>
          <a:xfrm>
            <a:off x="4736592" y="1783080"/>
            <a:ext cx="4187952" cy="502920"/>
          </a:xfrm>
          <a:prstGeom prst="rect">
            <a:avLst/>
          </a:prstGeom>
          <a:solidFill>
            <a:srgbClr val="1565C0"/>
          </a:solidFill>
          <a:ln w="12700">
            <a:solidFill>
              <a:srgbClr val="1565C0"/>
            </a:solidFill>
            <a:prstDash val="solid"/>
          </a:ln>
        </p:spPr>
      </p:sp>
      <p:sp>
        <p:nvSpPr>
          <p:cNvPr id="11" name="Text 9"/>
          <p:cNvSpPr/>
          <p:nvPr/>
        </p:nvSpPr>
        <p:spPr>
          <a:xfrm>
            <a:off x="4873752" y="1783080"/>
            <a:ext cx="3913632" cy="502920"/>
          </a:xfrm>
          <a:prstGeom prst="rect">
            <a:avLst/>
          </a:prstGeom>
          <a:noFill/>
          <a:ln/>
        </p:spPr>
        <p:txBody>
          <a:bodyPr wrap="square" lIns="0" tIns="0" rIns="0" bIns="0" rtlCol="0" anchor="ctr"/>
          <a:lstStyle/>
          <a:p>
            <a:pPr algn="l" indent="0" marL="0">
              <a:buNone/>
            </a:pPr>
            <a:r>
              <a:rPr lang="en-US" sz="1350" b="1" dirty="0">
                <a:solidFill>
                  <a:srgbClr val="FFFFFF"/>
                </a:solidFill>
                <a:latin typeface="Georgia" pitchFamily="34" charset="0"/>
                <a:ea typeface="Georgia" pitchFamily="34" charset="-122"/>
                <a:cs typeface="Georgia" pitchFamily="34" charset="-120"/>
              </a:rPr>
              <a:t>One-click manual control</a:t>
            </a:r>
            <a:endParaRPr lang="en-US" sz="1350" dirty="0"/>
          </a:p>
        </p:txBody>
      </p:sp>
      <p:sp>
        <p:nvSpPr>
          <p:cNvPr id="12" name="Text 10"/>
          <p:cNvSpPr/>
          <p:nvPr/>
        </p:nvSpPr>
        <p:spPr>
          <a:xfrm>
            <a:off x="4873752" y="2377440"/>
            <a:ext cx="3913632" cy="1417320"/>
          </a:xfrm>
          <a:prstGeom prst="rect">
            <a:avLst/>
          </a:prstGeom>
          <a:noFill/>
          <a:ln/>
        </p:spPr>
        <p:txBody>
          <a:bodyPr wrap="square" lIns="0" tIns="0" rIns="0" bIns="0" rtlCol="0" anchor="t"/>
          <a:lstStyle/>
          <a:p>
            <a:pPr algn="l" indent="0" marL="0">
              <a:buNone/>
            </a:pPr>
            <a:r>
              <a:rPr lang="en-US" sz="1250" dirty="0">
                <a:solidFill>
                  <a:srgbClr val="1A1A1A"/>
                </a:solidFill>
                <a:latin typeface="Calibri" pitchFamily="34" charset="0"/>
                <a:ea typeface="Calibri" pitchFamily="34" charset="-122"/>
                <a:cs typeface="Calibri" pitchFamily="34" charset="-120"/>
              </a:rPr>
              <a:t>Buttons for every system: open/close vents, fan on/off, door open/close/stop, coop lights and run lights.</a:t>
            </a:r>
            <a:endParaRPr lang="en-US" sz="1250" dirty="0"/>
          </a:p>
        </p:txBody>
      </p:sp>
      <p:sp>
        <p:nvSpPr>
          <p:cNvPr id="13" name="Shape 11"/>
          <p:cNvSpPr/>
          <p:nvPr/>
        </p:nvSpPr>
        <p:spPr>
          <a:xfrm>
            <a:off x="320040" y="4114800"/>
            <a:ext cx="4187952" cy="2148840"/>
          </a:xfrm>
          <a:prstGeom prst="rect">
            <a:avLst/>
          </a:prstGeom>
          <a:solidFill>
            <a:srgbClr val="FFFFFF"/>
          </a:solidFill>
          <a:ln w="10160">
            <a:solidFill>
              <a:srgbClr val="E0E8E0"/>
            </a:solidFill>
            <a:prstDash val="solid"/>
          </a:ln>
          <a:effectLst>
            <a:outerShdw sx="100000" sy="100000" kx="0" ky="0" algn="bl" rotWithShape="0" blurRad="63500" dist="25400" dir="8100000">
              <a:srgbClr val="000000">
                <a:alpha val="10000"/>
              </a:srgbClr>
            </a:outerShdw>
          </a:effectLst>
        </p:spPr>
      </p:sp>
      <p:sp>
        <p:nvSpPr>
          <p:cNvPr id="14" name="Shape 12"/>
          <p:cNvSpPr/>
          <p:nvPr/>
        </p:nvSpPr>
        <p:spPr>
          <a:xfrm>
            <a:off x="320040" y="4114800"/>
            <a:ext cx="4187952" cy="502920"/>
          </a:xfrm>
          <a:prstGeom prst="rect">
            <a:avLst/>
          </a:prstGeom>
          <a:solidFill>
            <a:srgbClr val="E65100"/>
          </a:solidFill>
          <a:ln w="12700">
            <a:solidFill>
              <a:srgbClr val="E65100"/>
            </a:solidFill>
            <a:prstDash val="solid"/>
          </a:ln>
        </p:spPr>
      </p:sp>
      <p:sp>
        <p:nvSpPr>
          <p:cNvPr id="15" name="Text 13"/>
          <p:cNvSpPr/>
          <p:nvPr/>
        </p:nvSpPr>
        <p:spPr>
          <a:xfrm>
            <a:off x="457200" y="4114800"/>
            <a:ext cx="3913632" cy="502920"/>
          </a:xfrm>
          <a:prstGeom prst="rect">
            <a:avLst/>
          </a:prstGeom>
          <a:noFill/>
          <a:ln/>
        </p:spPr>
        <p:txBody>
          <a:bodyPr wrap="square" lIns="0" tIns="0" rIns="0" bIns="0" rtlCol="0" anchor="ctr"/>
          <a:lstStyle/>
          <a:p>
            <a:pPr algn="l" indent="0" marL="0">
              <a:buNone/>
            </a:pPr>
            <a:r>
              <a:rPr lang="en-US" sz="1350" b="1" dirty="0">
                <a:solidFill>
                  <a:srgbClr val="FFFFFF"/>
                </a:solidFill>
                <a:latin typeface="Georgia" pitchFamily="34" charset="0"/>
                <a:ea typeface="Georgia" pitchFamily="34" charset="-122"/>
                <a:cs typeface="Georgia" pitchFamily="34" charset="-120"/>
              </a:rPr>
              <a:t>Emergency door stop</a:t>
            </a:r>
            <a:endParaRPr lang="en-US" sz="1350" dirty="0"/>
          </a:p>
        </p:txBody>
      </p:sp>
      <p:sp>
        <p:nvSpPr>
          <p:cNvPr id="16" name="Text 14"/>
          <p:cNvSpPr/>
          <p:nvPr/>
        </p:nvSpPr>
        <p:spPr>
          <a:xfrm>
            <a:off x="457200" y="4709160"/>
            <a:ext cx="3913632" cy="1417320"/>
          </a:xfrm>
          <a:prstGeom prst="rect">
            <a:avLst/>
          </a:prstGeom>
          <a:noFill/>
          <a:ln/>
        </p:spPr>
        <p:txBody>
          <a:bodyPr wrap="square" lIns="0" tIns="0" rIns="0" bIns="0" rtlCol="0" anchor="t"/>
          <a:lstStyle/>
          <a:p>
            <a:pPr algn="l" indent="0" marL="0">
              <a:buNone/>
            </a:pPr>
            <a:r>
              <a:rPr lang="en-US" sz="1250" dirty="0">
                <a:solidFill>
                  <a:srgbClr val="1A1A1A"/>
                </a:solidFill>
                <a:latin typeface="Calibri" pitchFamily="34" charset="0"/>
                <a:ea typeface="Calibri" pitchFamily="34" charset="-122"/>
                <a:cs typeface="Calibri" pitchFamily="34" charset="-120"/>
              </a:rPr>
              <a:t>A dedicated STOP button that immediately cuts the door motor — useful when testing the actuator travel before the limit switches are fitted.</a:t>
            </a:r>
            <a:endParaRPr lang="en-US" sz="1250" dirty="0"/>
          </a:p>
        </p:txBody>
      </p:sp>
      <p:sp>
        <p:nvSpPr>
          <p:cNvPr id="17" name="Shape 15"/>
          <p:cNvSpPr/>
          <p:nvPr/>
        </p:nvSpPr>
        <p:spPr>
          <a:xfrm>
            <a:off x="4736592" y="4114800"/>
            <a:ext cx="4187952" cy="2148840"/>
          </a:xfrm>
          <a:prstGeom prst="rect">
            <a:avLst/>
          </a:prstGeom>
          <a:solidFill>
            <a:srgbClr val="FFFFFF"/>
          </a:solidFill>
          <a:ln w="10160">
            <a:solidFill>
              <a:srgbClr val="E0E8E0"/>
            </a:solidFill>
            <a:prstDash val="solid"/>
          </a:ln>
          <a:effectLst>
            <a:outerShdw sx="100000" sy="100000" kx="0" ky="0" algn="bl" rotWithShape="0" blurRad="63500" dist="25400" dir="8100000">
              <a:srgbClr val="000000">
                <a:alpha val="10000"/>
              </a:srgbClr>
            </a:outerShdw>
          </a:effectLst>
        </p:spPr>
      </p:sp>
      <p:sp>
        <p:nvSpPr>
          <p:cNvPr id="18" name="Shape 16"/>
          <p:cNvSpPr/>
          <p:nvPr/>
        </p:nvSpPr>
        <p:spPr>
          <a:xfrm>
            <a:off x="4736592" y="4114800"/>
            <a:ext cx="4187952" cy="502920"/>
          </a:xfrm>
          <a:prstGeom prst="rect">
            <a:avLst/>
          </a:prstGeom>
          <a:solidFill>
            <a:srgbClr val="2E7D32"/>
          </a:solidFill>
          <a:ln w="12700">
            <a:solidFill>
              <a:srgbClr val="2E7D32"/>
            </a:solidFill>
            <a:prstDash val="solid"/>
          </a:ln>
        </p:spPr>
      </p:sp>
      <p:sp>
        <p:nvSpPr>
          <p:cNvPr id="19" name="Text 17"/>
          <p:cNvSpPr/>
          <p:nvPr/>
        </p:nvSpPr>
        <p:spPr>
          <a:xfrm>
            <a:off x="4873752" y="4114800"/>
            <a:ext cx="3913632" cy="502920"/>
          </a:xfrm>
          <a:prstGeom prst="rect">
            <a:avLst/>
          </a:prstGeom>
          <a:noFill/>
          <a:ln/>
        </p:spPr>
        <p:txBody>
          <a:bodyPr wrap="square" lIns="0" tIns="0" rIns="0" bIns="0" rtlCol="0" anchor="ctr"/>
          <a:lstStyle/>
          <a:p>
            <a:pPr algn="l" indent="0" marL="0">
              <a:buNone/>
            </a:pPr>
            <a:r>
              <a:rPr lang="en-US" sz="1350" b="1" dirty="0">
                <a:solidFill>
                  <a:srgbClr val="FFFFFF"/>
                </a:solidFill>
                <a:latin typeface="Georgia" pitchFamily="34" charset="0"/>
                <a:ea typeface="Georgia" pitchFamily="34" charset="-122"/>
                <a:cs typeface="Georgia" pitchFamily="34" charset="-120"/>
              </a:rPr>
              <a:t>Live log viewer</a:t>
            </a:r>
            <a:endParaRPr lang="en-US" sz="1350" dirty="0"/>
          </a:p>
        </p:txBody>
      </p:sp>
      <p:sp>
        <p:nvSpPr>
          <p:cNvPr id="20" name="Text 18"/>
          <p:cNvSpPr/>
          <p:nvPr/>
        </p:nvSpPr>
        <p:spPr>
          <a:xfrm>
            <a:off x="4873752" y="4709160"/>
            <a:ext cx="3913632" cy="1417320"/>
          </a:xfrm>
          <a:prstGeom prst="rect">
            <a:avLst/>
          </a:prstGeom>
          <a:noFill/>
          <a:ln/>
        </p:spPr>
        <p:txBody>
          <a:bodyPr wrap="square" lIns="0" tIns="0" rIns="0" bIns="0" rtlCol="0" anchor="t"/>
          <a:lstStyle/>
          <a:p>
            <a:pPr algn="l" indent="0" marL="0">
              <a:buNone/>
            </a:pPr>
            <a:r>
              <a:rPr lang="en-US" sz="1250" dirty="0">
                <a:solidFill>
                  <a:srgbClr val="1A1A1A"/>
                </a:solidFill>
                <a:latin typeface="Calibri" pitchFamily="34" charset="0"/>
                <a:ea typeface="Calibri" pitchFamily="34" charset="-122"/>
                <a:cs typeface="Calibri" pitchFamily="34" charset="-120"/>
              </a:rPr>
              <a:t>The last 50 lines of coop.log shown on the page, with a Refresh button. No need to SSH into the Pi to see what the controller is doing.</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3D1C"/>
        </a:solidFill>
      </p:bgPr>
    </p:bg>
    <p:spTree>
      <p:nvGrpSpPr>
        <p:cNvPr id="1" name=""/>
        <p:cNvGrpSpPr/>
        <p:nvPr/>
      </p:nvGrpSpPr>
      <p:grpSpPr>
        <a:xfrm>
          <a:off x="0" y="0"/>
          <a:ext cx="0" cy="0"/>
          <a:chOff x="0" y="0"/>
          <a:chExt cx="0" cy="0"/>
        </a:xfrm>
      </p:grpSpPr>
      <p:sp>
        <p:nvSpPr>
          <p:cNvPr id="2" name="Shape 0"/>
          <p:cNvSpPr/>
          <p:nvPr/>
        </p:nvSpPr>
        <p:spPr>
          <a:xfrm>
            <a:off x="6583680" y="-1828800"/>
            <a:ext cx="4572000" cy="4572000"/>
          </a:xfrm>
          <a:prstGeom prst="ellipse">
            <a:avLst/>
          </a:prstGeom>
          <a:solidFill>
            <a:srgbClr val="2E5B2E"/>
          </a:solidFill>
          <a:ln w="12700">
            <a:solidFill>
              <a:srgbClr val="2E5B2E"/>
            </a:solidFill>
            <a:prstDash val="solid"/>
          </a:ln>
        </p:spPr>
      </p:sp>
      <p:sp>
        <p:nvSpPr>
          <p:cNvPr id="3" name="Shape 1"/>
          <p:cNvSpPr/>
          <p:nvPr/>
        </p:nvSpPr>
        <p:spPr>
          <a:xfrm>
            <a:off x="-1828800" y="4572000"/>
            <a:ext cx="3657600" cy="3657600"/>
          </a:xfrm>
          <a:prstGeom prst="ellipse">
            <a:avLst/>
          </a:prstGeom>
          <a:solidFill>
            <a:srgbClr val="2E5B2E"/>
          </a:solidFill>
          <a:ln w="12700">
            <a:solidFill>
              <a:srgbClr val="2E5B2E"/>
            </a:solidFill>
            <a:prstDash val="solid"/>
          </a:ln>
        </p:spPr>
      </p:sp>
      <p:sp>
        <p:nvSpPr>
          <p:cNvPr id="4" name="Shape 2"/>
          <p:cNvSpPr/>
          <p:nvPr/>
        </p:nvSpPr>
        <p:spPr>
          <a:xfrm>
            <a:off x="548640" y="502920"/>
            <a:ext cx="91440" cy="1097280"/>
          </a:xfrm>
          <a:prstGeom prst="rect">
            <a:avLst/>
          </a:prstGeom>
          <a:solidFill>
            <a:srgbClr val="4CAF50"/>
          </a:solidFill>
          <a:ln w="12700">
            <a:solidFill>
              <a:srgbClr val="4CAF50"/>
            </a:solidFill>
            <a:prstDash val="solid"/>
          </a:ln>
        </p:spPr>
      </p:sp>
      <p:sp>
        <p:nvSpPr>
          <p:cNvPr id="5" name="Text 3"/>
          <p:cNvSpPr/>
          <p:nvPr/>
        </p:nvSpPr>
        <p:spPr>
          <a:xfrm>
            <a:off x="777240" y="411480"/>
            <a:ext cx="7772400" cy="1280160"/>
          </a:xfrm>
          <a:prstGeom prst="rect">
            <a:avLst/>
          </a:prstGeom>
          <a:noFill/>
          <a:ln/>
        </p:spPr>
        <p:txBody>
          <a:bodyPr wrap="square" lIns="0" tIns="0" rIns="0" bIns="0" rtlCol="0" anchor="ctr"/>
          <a:lstStyle/>
          <a:p>
            <a:pPr algn="l" indent="0" marL="0">
              <a:buNone/>
            </a:pPr>
            <a:r>
              <a:rPr lang="en-US" sz="3800" b="1" dirty="0">
                <a:solidFill>
                  <a:srgbClr val="FFFFFF"/>
                </a:solidFill>
                <a:latin typeface="Georgia" pitchFamily="34" charset="0"/>
                <a:ea typeface="Georgia" pitchFamily="34" charset="-122"/>
                <a:cs typeface="Georgia" pitchFamily="34" charset="-120"/>
              </a:rPr>
              <a:t>What We Learned</a:t>
            </a:r>
            <a:endParaRPr lang="en-US" sz="3800" dirty="0"/>
          </a:p>
        </p:txBody>
      </p:sp>
      <p:sp>
        <p:nvSpPr>
          <p:cNvPr id="6" name="Shape 4"/>
          <p:cNvSpPr/>
          <p:nvPr/>
        </p:nvSpPr>
        <p:spPr>
          <a:xfrm>
            <a:off x="457200" y="1920240"/>
            <a:ext cx="3977640" cy="2057400"/>
          </a:xfrm>
          <a:prstGeom prst="rect">
            <a:avLst/>
          </a:prstGeom>
          <a:solidFill>
            <a:srgbClr val="2A5A2A"/>
          </a:solidFill>
          <a:ln w="12700">
            <a:solidFill>
              <a:srgbClr val="3A6A3A"/>
            </a:solidFill>
            <a:prstDash val="solid"/>
          </a:ln>
        </p:spPr>
      </p:sp>
      <p:sp>
        <p:nvSpPr>
          <p:cNvPr id="7" name="Shape 5"/>
          <p:cNvSpPr/>
          <p:nvPr/>
        </p:nvSpPr>
        <p:spPr>
          <a:xfrm>
            <a:off x="457200" y="1920240"/>
            <a:ext cx="3977640" cy="73152"/>
          </a:xfrm>
          <a:prstGeom prst="rect">
            <a:avLst/>
          </a:prstGeom>
          <a:solidFill>
            <a:srgbClr val="4CAF50"/>
          </a:solidFill>
          <a:ln w="12700">
            <a:solidFill>
              <a:srgbClr val="4CAF50"/>
            </a:solidFill>
            <a:prstDash val="solid"/>
          </a:ln>
        </p:spPr>
      </p:sp>
      <p:sp>
        <p:nvSpPr>
          <p:cNvPr id="8" name="Text 6"/>
          <p:cNvSpPr/>
          <p:nvPr/>
        </p:nvSpPr>
        <p:spPr>
          <a:xfrm>
            <a:off x="621792" y="2084832"/>
            <a:ext cx="3648456" cy="384048"/>
          </a:xfrm>
          <a:prstGeom prst="rect">
            <a:avLst/>
          </a:prstGeom>
          <a:noFill/>
          <a:ln/>
        </p:spPr>
        <p:txBody>
          <a:bodyPr wrap="square" lIns="0" tIns="0" rIns="0" bIns="0" rtlCol="0" anchor="ctr"/>
          <a:lstStyle/>
          <a:p>
            <a:pPr algn="l" indent="0" marL="0">
              <a:buNone/>
            </a:pPr>
            <a:r>
              <a:rPr lang="en-US" sz="1350" b="1" dirty="0">
                <a:solidFill>
                  <a:srgbClr val="FFFFFF"/>
                </a:solidFill>
                <a:latin typeface="Georgia" pitchFamily="34" charset="0"/>
                <a:ea typeface="Georgia" pitchFamily="34" charset="-122"/>
                <a:cs typeface="Georgia" pitchFamily="34" charset="-120"/>
              </a:rPr>
              <a:t>Real hardware is harder than code</a:t>
            </a:r>
            <a:endParaRPr lang="en-US" sz="1350" dirty="0"/>
          </a:p>
        </p:txBody>
      </p:sp>
      <p:sp>
        <p:nvSpPr>
          <p:cNvPr id="9" name="Text 7"/>
          <p:cNvSpPr/>
          <p:nvPr/>
        </p:nvSpPr>
        <p:spPr>
          <a:xfrm>
            <a:off x="621792" y="2514600"/>
            <a:ext cx="3648456" cy="1325880"/>
          </a:xfrm>
          <a:prstGeom prst="rect">
            <a:avLst/>
          </a:prstGeom>
          <a:noFill/>
          <a:ln/>
        </p:spPr>
        <p:txBody>
          <a:bodyPr wrap="square" lIns="0" tIns="0" rIns="0" bIns="0" rtlCol="0" anchor="t"/>
          <a:lstStyle/>
          <a:p>
            <a:pPr algn="l" indent="0" marL="0">
              <a:buNone/>
            </a:pPr>
            <a:r>
              <a:rPr lang="en-US" sz="1250" dirty="0">
                <a:solidFill>
                  <a:srgbClr val="C8E6C9"/>
                </a:solidFill>
                <a:latin typeface="Calibri" pitchFamily="34" charset="0"/>
                <a:ea typeface="Calibri" pitchFamily="34" charset="-122"/>
                <a:cs typeface="Calibri" pitchFamily="34" charset="-120"/>
              </a:rPr>
              <a:t>Getting sensors to read reliably outdoors — temperature, humidity, light — took more calibration than the software logic.</a:t>
            </a:r>
            <a:endParaRPr lang="en-US" sz="1250" dirty="0"/>
          </a:p>
        </p:txBody>
      </p:sp>
      <p:sp>
        <p:nvSpPr>
          <p:cNvPr id="10" name="Shape 8"/>
          <p:cNvSpPr/>
          <p:nvPr/>
        </p:nvSpPr>
        <p:spPr>
          <a:xfrm>
            <a:off x="4846320" y="1920240"/>
            <a:ext cx="3977640" cy="2057400"/>
          </a:xfrm>
          <a:prstGeom prst="rect">
            <a:avLst/>
          </a:prstGeom>
          <a:solidFill>
            <a:srgbClr val="2A5A2A"/>
          </a:solidFill>
          <a:ln w="12700">
            <a:solidFill>
              <a:srgbClr val="3A6A3A"/>
            </a:solidFill>
            <a:prstDash val="solid"/>
          </a:ln>
        </p:spPr>
      </p:sp>
      <p:sp>
        <p:nvSpPr>
          <p:cNvPr id="11" name="Shape 9"/>
          <p:cNvSpPr/>
          <p:nvPr/>
        </p:nvSpPr>
        <p:spPr>
          <a:xfrm>
            <a:off x="4846320" y="1920240"/>
            <a:ext cx="3977640" cy="73152"/>
          </a:xfrm>
          <a:prstGeom prst="rect">
            <a:avLst/>
          </a:prstGeom>
          <a:solidFill>
            <a:srgbClr val="4CAF50"/>
          </a:solidFill>
          <a:ln w="12700">
            <a:solidFill>
              <a:srgbClr val="4CAF50"/>
            </a:solidFill>
            <a:prstDash val="solid"/>
          </a:ln>
        </p:spPr>
      </p:sp>
      <p:sp>
        <p:nvSpPr>
          <p:cNvPr id="12" name="Text 10"/>
          <p:cNvSpPr/>
          <p:nvPr/>
        </p:nvSpPr>
        <p:spPr>
          <a:xfrm>
            <a:off x="5010912" y="2084832"/>
            <a:ext cx="3648456" cy="384048"/>
          </a:xfrm>
          <a:prstGeom prst="rect">
            <a:avLst/>
          </a:prstGeom>
          <a:noFill/>
          <a:ln/>
        </p:spPr>
        <p:txBody>
          <a:bodyPr wrap="square" lIns="0" tIns="0" rIns="0" bIns="0" rtlCol="0" anchor="ctr"/>
          <a:lstStyle/>
          <a:p>
            <a:pPr algn="l" indent="0" marL="0">
              <a:buNone/>
            </a:pPr>
            <a:r>
              <a:rPr lang="en-US" sz="1350" b="1" dirty="0">
                <a:solidFill>
                  <a:srgbClr val="FFFFFF"/>
                </a:solidFill>
                <a:latin typeface="Georgia" pitchFamily="34" charset="0"/>
                <a:ea typeface="Georgia" pitchFamily="34" charset="-122"/>
                <a:cs typeface="Georgia" pitchFamily="34" charset="-120"/>
              </a:rPr>
              <a:t>The Pi 5 is different</a:t>
            </a:r>
            <a:endParaRPr lang="en-US" sz="1350" dirty="0"/>
          </a:p>
        </p:txBody>
      </p:sp>
      <p:sp>
        <p:nvSpPr>
          <p:cNvPr id="13" name="Text 11"/>
          <p:cNvSpPr/>
          <p:nvPr/>
        </p:nvSpPr>
        <p:spPr>
          <a:xfrm>
            <a:off x="5010912" y="2514600"/>
            <a:ext cx="3648456" cy="1325880"/>
          </a:xfrm>
          <a:prstGeom prst="rect">
            <a:avLst/>
          </a:prstGeom>
          <a:noFill/>
          <a:ln/>
        </p:spPr>
        <p:txBody>
          <a:bodyPr wrap="square" lIns="0" tIns="0" rIns="0" bIns="0" rtlCol="0" anchor="t"/>
          <a:lstStyle/>
          <a:p>
            <a:pPr algn="l" indent="0" marL="0">
              <a:buNone/>
            </a:pPr>
            <a:r>
              <a:rPr lang="en-US" sz="1250" dirty="0">
                <a:solidFill>
                  <a:srgbClr val="C8E6C9"/>
                </a:solidFill>
                <a:latin typeface="Calibri" pitchFamily="34" charset="0"/>
                <a:ea typeface="Calibri" pitchFamily="34" charset="-122"/>
                <a:cs typeface="Calibri" pitchFamily="34" charset="-120"/>
              </a:rPr>
              <a:t>The new RP1 GPIO chip broke the old RPi.GPIO library. Switching to lgpio and understanding why took real debugging.</a:t>
            </a:r>
            <a:endParaRPr lang="en-US" sz="1250" dirty="0"/>
          </a:p>
        </p:txBody>
      </p:sp>
      <p:sp>
        <p:nvSpPr>
          <p:cNvPr id="14" name="Shape 12"/>
          <p:cNvSpPr/>
          <p:nvPr/>
        </p:nvSpPr>
        <p:spPr>
          <a:xfrm>
            <a:off x="457200" y="4251960"/>
            <a:ext cx="3977640" cy="2057400"/>
          </a:xfrm>
          <a:prstGeom prst="rect">
            <a:avLst/>
          </a:prstGeom>
          <a:solidFill>
            <a:srgbClr val="2A5A2A"/>
          </a:solidFill>
          <a:ln w="12700">
            <a:solidFill>
              <a:srgbClr val="3A6A3A"/>
            </a:solidFill>
            <a:prstDash val="solid"/>
          </a:ln>
        </p:spPr>
      </p:sp>
      <p:sp>
        <p:nvSpPr>
          <p:cNvPr id="15" name="Shape 13"/>
          <p:cNvSpPr/>
          <p:nvPr/>
        </p:nvSpPr>
        <p:spPr>
          <a:xfrm>
            <a:off x="457200" y="4251960"/>
            <a:ext cx="3977640" cy="73152"/>
          </a:xfrm>
          <a:prstGeom prst="rect">
            <a:avLst/>
          </a:prstGeom>
          <a:solidFill>
            <a:srgbClr val="4CAF50"/>
          </a:solidFill>
          <a:ln w="12700">
            <a:solidFill>
              <a:srgbClr val="4CAF50"/>
            </a:solidFill>
            <a:prstDash val="solid"/>
          </a:ln>
        </p:spPr>
      </p:sp>
      <p:sp>
        <p:nvSpPr>
          <p:cNvPr id="16" name="Text 14"/>
          <p:cNvSpPr/>
          <p:nvPr/>
        </p:nvSpPr>
        <p:spPr>
          <a:xfrm>
            <a:off x="621792" y="4416552"/>
            <a:ext cx="3648456" cy="384048"/>
          </a:xfrm>
          <a:prstGeom prst="rect">
            <a:avLst/>
          </a:prstGeom>
          <a:noFill/>
          <a:ln/>
        </p:spPr>
        <p:txBody>
          <a:bodyPr wrap="square" lIns="0" tIns="0" rIns="0" bIns="0" rtlCol="0" anchor="ctr"/>
          <a:lstStyle/>
          <a:p>
            <a:pPr algn="l" indent="0" marL="0">
              <a:buNone/>
            </a:pPr>
            <a:r>
              <a:rPr lang="en-US" sz="1350" b="1" dirty="0">
                <a:solidFill>
                  <a:srgbClr val="FFFFFF"/>
                </a:solidFill>
                <a:latin typeface="Georgia" pitchFamily="34" charset="0"/>
                <a:ea typeface="Georgia" pitchFamily="34" charset="-122"/>
                <a:cs typeface="Georgia" pitchFamily="34" charset="-120"/>
              </a:rPr>
              <a:t>Hysteresis matters</a:t>
            </a:r>
            <a:endParaRPr lang="en-US" sz="1350" dirty="0"/>
          </a:p>
        </p:txBody>
      </p:sp>
      <p:sp>
        <p:nvSpPr>
          <p:cNvPr id="17" name="Text 15"/>
          <p:cNvSpPr/>
          <p:nvPr/>
        </p:nvSpPr>
        <p:spPr>
          <a:xfrm>
            <a:off x="621792" y="4846320"/>
            <a:ext cx="3648456" cy="1325880"/>
          </a:xfrm>
          <a:prstGeom prst="rect">
            <a:avLst/>
          </a:prstGeom>
          <a:noFill/>
          <a:ln/>
        </p:spPr>
        <p:txBody>
          <a:bodyPr wrap="square" lIns="0" tIns="0" rIns="0" bIns="0" rtlCol="0" anchor="t"/>
          <a:lstStyle/>
          <a:p>
            <a:pPr algn="l" indent="0" marL="0">
              <a:buNone/>
            </a:pPr>
            <a:r>
              <a:rPr lang="en-US" sz="1250" dirty="0">
                <a:solidFill>
                  <a:srgbClr val="C8E6C9"/>
                </a:solidFill>
                <a:latin typeface="Calibri" pitchFamily="34" charset="0"/>
                <a:ea typeface="Calibri" pitchFamily="34" charset="-122"/>
                <a:cs typeface="Calibri" pitchFamily="34" charset="-120"/>
              </a:rPr>
              <a:t>Without a gap between on/off thresholds, the vents and fan would toggle constantly. Small design choices have big real-world effects.</a:t>
            </a:r>
            <a:endParaRPr lang="en-US" sz="1250" dirty="0"/>
          </a:p>
        </p:txBody>
      </p:sp>
      <p:sp>
        <p:nvSpPr>
          <p:cNvPr id="18" name="Shape 16"/>
          <p:cNvSpPr/>
          <p:nvPr/>
        </p:nvSpPr>
        <p:spPr>
          <a:xfrm>
            <a:off x="4846320" y="4251960"/>
            <a:ext cx="3977640" cy="2057400"/>
          </a:xfrm>
          <a:prstGeom prst="rect">
            <a:avLst/>
          </a:prstGeom>
          <a:solidFill>
            <a:srgbClr val="2A5A2A"/>
          </a:solidFill>
          <a:ln w="12700">
            <a:solidFill>
              <a:srgbClr val="3A6A3A"/>
            </a:solidFill>
            <a:prstDash val="solid"/>
          </a:ln>
        </p:spPr>
      </p:sp>
      <p:sp>
        <p:nvSpPr>
          <p:cNvPr id="19" name="Shape 17"/>
          <p:cNvSpPr/>
          <p:nvPr/>
        </p:nvSpPr>
        <p:spPr>
          <a:xfrm>
            <a:off x="4846320" y="4251960"/>
            <a:ext cx="3977640" cy="73152"/>
          </a:xfrm>
          <a:prstGeom prst="rect">
            <a:avLst/>
          </a:prstGeom>
          <a:solidFill>
            <a:srgbClr val="4CAF50"/>
          </a:solidFill>
          <a:ln w="12700">
            <a:solidFill>
              <a:srgbClr val="4CAF50"/>
            </a:solidFill>
            <a:prstDash val="solid"/>
          </a:ln>
        </p:spPr>
      </p:sp>
      <p:sp>
        <p:nvSpPr>
          <p:cNvPr id="20" name="Text 18"/>
          <p:cNvSpPr/>
          <p:nvPr/>
        </p:nvSpPr>
        <p:spPr>
          <a:xfrm>
            <a:off x="5010912" y="4416552"/>
            <a:ext cx="3648456" cy="384048"/>
          </a:xfrm>
          <a:prstGeom prst="rect">
            <a:avLst/>
          </a:prstGeom>
          <a:noFill/>
          <a:ln/>
        </p:spPr>
        <p:txBody>
          <a:bodyPr wrap="square" lIns="0" tIns="0" rIns="0" bIns="0" rtlCol="0" anchor="ctr"/>
          <a:lstStyle/>
          <a:p>
            <a:pPr algn="l" indent="0" marL="0">
              <a:buNone/>
            </a:pPr>
            <a:r>
              <a:rPr lang="en-US" sz="1350" b="1" dirty="0">
                <a:solidFill>
                  <a:srgbClr val="FFFFFF"/>
                </a:solidFill>
                <a:latin typeface="Georgia" pitchFamily="34" charset="0"/>
                <a:ea typeface="Georgia" pitchFamily="34" charset="-122"/>
                <a:cs typeface="Georgia" pitchFamily="34" charset="-120"/>
              </a:rPr>
              <a:t>Separation of concerns</a:t>
            </a:r>
            <a:endParaRPr lang="en-US" sz="1350" dirty="0"/>
          </a:p>
        </p:txBody>
      </p:sp>
      <p:sp>
        <p:nvSpPr>
          <p:cNvPr id="21" name="Text 19"/>
          <p:cNvSpPr/>
          <p:nvPr/>
        </p:nvSpPr>
        <p:spPr>
          <a:xfrm>
            <a:off x="5010912" y="4846320"/>
            <a:ext cx="3648456" cy="1325880"/>
          </a:xfrm>
          <a:prstGeom prst="rect">
            <a:avLst/>
          </a:prstGeom>
          <a:noFill/>
          <a:ln/>
        </p:spPr>
        <p:txBody>
          <a:bodyPr wrap="square" lIns="0" tIns="0" rIns="0" bIns="0" rtlCol="0" anchor="t"/>
          <a:lstStyle/>
          <a:p>
            <a:pPr algn="l" indent="0" marL="0">
              <a:buNone/>
            </a:pPr>
            <a:r>
              <a:rPr lang="en-US" sz="1250" dirty="0">
                <a:solidFill>
                  <a:srgbClr val="C8E6C9"/>
                </a:solidFill>
                <a:latin typeface="Calibri" pitchFamily="34" charset="0"/>
                <a:ea typeface="Calibri" pitchFamily="34" charset="-122"/>
                <a:cs typeface="Calibri" pitchFamily="34" charset="-120"/>
              </a:rPr>
              <a:t>Putting all configuration in config.py and keeping the logic in coop_controller.py made the code much easier to change and test.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2026-06-19T20:19:27Z</dcterms:created>
  <dcterms:modified xsi:type="dcterms:W3CDTF">2026-06-19T20:19:27Z</dcterms:modified>
</cp:coreProperties>
</file>